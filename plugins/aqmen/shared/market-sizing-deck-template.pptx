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[Region A]</c:v>
                </c:pt>
              </c:strCache>
            </c:strRef>
          </c:tx>
          <c:spPr>
            <a:solidFill>
              <a:srgbClr val="03045E"/>
            </a:solidFill>
            <a:ln>
              <a:noFill/>
            </a:ln>
          </c:spPr>
          <c:dLbls>
            <c:numFmt formatCode="#,##0.0" sourceLinked="0"/>
            <c:txPr>
              <a:bodyPr/>
              <a:lstStyle/>
              <a:p>
                <a:pPr>
                  <a:defRPr sz="900">
                    <a:latin typeface="Montserrat Medium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'21</c:v>
                </c:pt>
                <c:pt idx="1">
                  <c:v>'22</c:v>
                </c:pt>
                <c:pt idx="2">
                  <c:v>'23</c:v>
                </c:pt>
                <c:pt idx="3">
                  <c:v>'24</c:v>
                </c:pt>
                <c:pt idx="4">
                  <c:v>'25E</c:v>
                </c:pt>
                <c:pt idx="5">
                  <c:v>'29E</c:v>
                </c:pt>
              </c:strCache>
            </c:strRef>
          </c:cat>
          <c:val>
            <c:numRef>
              <c:f>Sheet1!$B$2:$B$7</c:f>
              <c:numCache>
                <c:formatCode>#,##0.0</c:formatCode>
                <c:ptCount val="6"/>
                <c:pt idx="0">
                  <c:v>7.2</c:v>
                </c:pt>
                <c:pt idx="1">
                  <c:v>6.0</c:v>
                </c:pt>
                <c:pt idx="2">
                  <c:v>5.9</c:v>
                </c:pt>
                <c:pt idx="3">
                  <c:v>6.7</c:v>
                </c:pt>
                <c:pt idx="4">
                  <c:v>7.1</c:v>
                </c:pt>
                <c:pt idx="5">
                  <c:v>9.4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[Region B]</c:v>
                </c:pt>
              </c:strCache>
            </c:strRef>
          </c:tx>
          <c:spPr>
            <a:solidFill>
              <a:srgbClr val="0728A3"/>
            </a:solidFill>
            <a:ln>
              <a:noFill/>
            </a:ln>
          </c:spPr>
          <c:dLbls>
            <c:numFmt formatCode="#,##0.0" sourceLinked="0"/>
            <c:txPr>
              <a:bodyPr/>
              <a:lstStyle/>
              <a:p>
                <a:pPr>
                  <a:defRPr sz="900">
                    <a:latin typeface="Montserrat Medium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'21</c:v>
                </c:pt>
                <c:pt idx="1">
                  <c:v>'22</c:v>
                </c:pt>
                <c:pt idx="2">
                  <c:v>'23</c:v>
                </c:pt>
                <c:pt idx="3">
                  <c:v>'24</c:v>
                </c:pt>
                <c:pt idx="4">
                  <c:v>'25E</c:v>
                </c:pt>
                <c:pt idx="5">
                  <c:v>'29E</c:v>
                </c:pt>
              </c:strCache>
            </c:strRef>
          </c:cat>
          <c:val>
            <c:numRef>
              <c:f>Sheet1!$C$2:$C$7</c:f>
              <c:numCache>
                <c:formatCode>#,##0.0</c:formatCode>
                <c:ptCount val="6"/>
                <c:pt idx="0">
                  <c:v>2.6</c:v>
                </c:pt>
                <c:pt idx="1">
                  <c:v>2.2</c:v>
                </c:pt>
                <c:pt idx="2">
                  <c:v>2.1</c:v>
                </c:pt>
                <c:pt idx="3">
                  <c:v>2.4</c:v>
                </c:pt>
                <c:pt idx="4">
                  <c:v>2.5</c:v>
                </c:pt>
                <c:pt idx="5">
                  <c:v>3.3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[Region C]</c:v>
                </c:pt>
              </c:strCache>
            </c:strRef>
          </c:tx>
          <c:spPr>
            <a:solidFill>
              <a:srgbClr val="2E6FD6"/>
            </a:solidFill>
            <a:ln>
              <a:noFill/>
            </a:ln>
          </c:spPr>
          <c:dLbls>
            <c:numFmt formatCode="#,##0.0" sourceLinked="0"/>
            <c:txPr>
              <a:bodyPr/>
              <a:lstStyle/>
              <a:p>
                <a:pPr>
                  <a:defRPr sz="900">
                    <a:latin typeface="Montserrat Medium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'21</c:v>
                </c:pt>
                <c:pt idx="1">
                  <c:v>'22</c:v>
                </c:pt>
                <c:pt idx="2">
                  <c:v>'23</c:v>
                </c:pt>
                <c:pt idx="3">
                  <c:v>'24</c:v>
                </c:pt>
                <c:pt idx="4">
                  <c:v>'25E</c:v>
                </c:pt>
                <c:pt idx="5">
                  <c:v>'29E</c:v>
                </c:pt>
              </c:strCache>
            </c:strRef>
          </c:cat>
          <c:val>
            <c:numRef>
              <c:f>Sheet1!$D$2:$D$7</c:f>
              <c:numCache>
                <c:formatCode>#,##0.0</c:formatCode>
                <c:ptCount val="6"/>
                <c:pt idx="0">
                  <c:v>1.4</c:v>
                </c:pt>
                <c:pt idx="1">
                  <c:v>1.2</c:v>
                </c:pt>
                <c:pt idx="2">
                  <c:v>1.1</c:v>
                </c:pt>
                <c:pt idx="3">
                  <c:v>1.3</c:v>
                </c:pt>
                <c:pt idx="4">
                  <c:v>1.4</c:v>
                </c:pt>
                <c:pt idx="5">
                  <c:v>1.9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BD6"/>
            </a:solidFill>
          </a:ln>
        </c:spPr>
        <c:txPr>
          <a:bodyPr/>
          <a:lstStyle/>
          <a:p>
            <a:pPr>
              <a:defRPr sz="900">
                <a:latin typeface="Montserrat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F2F3F7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9CBD6"/>
            </a:solidFill>
          </a:ln>
        </c:spPr>
        <c:txPr>
          <a:bodyPr/>
          <a:lstStyle/>
          <a:p>
            <a:pPr>
              <a:defRPr sz="900">
                <a:latin typeface="Montserrat Medium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Montserrat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[Segment A]</c:v>
                </c:pt>
              </c:strCache>
            </c:strRef>
          </c:tx>
          <c:spPr>
            <a:solidFill>
              <a:srgbClr val="03045E"/>
            </a:solidFill>
            <a:ln>
              <a:noFill/>
            </a:ln>
          </c:spPr>
          <c:dLbls>
            <c:numFmt formatCode="#,##0" sourceLinked="0"/>
            <c:txPr>
              <a:bodyPr/>
              <a:lstStyle/>
              <a:p>
                <a:pPr>
                  <a:defRPr sz="900">
                    <a:latin typeface="Montserrat Medium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[Region A]</c:v>
                </c:pt>
                <c:pt idx="1">
                  <c:v>[Region B]</c:v>
                </c:pt>
                <c:pt idx="2">
                  <c:v>[Region C]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30</c:v>
                </c:pt>
                <c:pt idx="1">
                  <c:v>12</c:v>
                </c:pt>
                <c:pt idx="2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[Segment B]</c:v>
                </c:pt>
              </c:strCache>
            </c:strRef>
          </c:tx>
          <c:spPr>
            <a:solidFill>
              <a:srgbClr val="0728A3"/>
            </a:solidFill>
            <a:ln>
              <a:noFill/>
            </a:ln>
          </c:spPr>
          <c:dLbls>
            <c:numFmt formatCode="#,##0" sourceLinked="0"/>
            <c:txPr>
              <a:bodyPr/>
              <a:lstStyle/>
              <a:p>
                <a:pPr>
                  <a:defRPr sz="900">
                    <a:latin typeface="Montserrat Medium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[Region A]</c:v>
                </c:pt>
                <c:pt idx="1">
                  <c:v>[Region B]</c:v>
                </c:pt>
                <c:pt idx="2">
                  <c:v>[Region C]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15</c:v>
                </c:pt>
                <c:pt idx="1">
                  <c:v>6</c:v>
                </c:pt>
                <c:pt idx="2">
                  <c:v>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[Segment C]</c:v>
                </c:pt>
              </c:strCache>
            </c:strRef>
          </c:tx>
          <c:spPr>
            <a:solidFill>
              <a:srgbClr val="2E6FD6"/>
            </a:solidFill>
            <a:ln>
              <a:noFill/>
            </a:ln>
          </c:spPr>
          <c:dLbls>
            <c:numFmt formatCode="#,##0" sourceLinked="0"/>
            <c:txPr>
              <a:bodyPr/>
              <a:lstStyle/>
              <a:p>
                <a:pPr>
                  <a:defRPr sz="900">
                    <a:latin typeface="Montserrat Medium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[Region A]</c:v>
                </c:pt>
                <c:pt idx="1">
                  <c:v>[Region B]</c:v>
                </c:pt>
                <c:pt idx="2">
                  <c:v>[Region C]</c:v>
                </c:pt>
              </c:strCache>
            </c:strRef>
          </c:cat>
          <c:val>
            <c:numRef>
              <c:f>Sheet1!$D$2:$D$4</c:f>
              <c:numCache>
                <c:formatCode>#,##0</c:formatCode>
                <c:ptCount val="3"/>
                <c:pt idx="0">
                  <c:v>8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BD6"/>
            </a:solidFill>
          </a:ln>
        </c:spPr>
        <c:txPr>
          <a:bodyPr/>
          <a:lstStyle/>
          <a:p>
            <a:pPr>
              <a:defRPr sz="900">
                <a:latin typeface="Montserrat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F2F3F7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9CBD6"/>
            </a:solidFill>
          </a:ln>
        </c:spPr>
        <c:txPr>
          <a:bodyPr/>
          <a:lstStyle/>
          <a:p>
            <a:pPr>
              <a:defRPr sz="900">
                <a:latin typeface="Montserrat Medium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Montserrat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Estimate</c:v>
                </c:pt>
              </c:strCache>
            </c:strRef>
          </c:tx>
          <c:spPr>
            <a:solidFill>
              <a:srgbClr val="03045E"/>
            </a:solidFill>
            <a:ln>
              <a:noFill/>
            </a:ln>
          </c:spPr>
          <c:dLbls>
            <c:numFmt formatCode="#,##0.0" sourceLinked="0"/>
            <c:txPr>
              <a:bodyPr/>
              <a:lstStyle/>
              <a:p>
                <a:pPr>
                  <a:defRPr sz="900">
                    <a:latin typeface="Montserrat Medium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Bottom-up</c:v>
                </c:pt>
                <c:pt idx="1">
                  <c:v>Top-down</c:v>
                </c:pt>
              </c:strCache>
            </c:strRef>
          </c:cat>
          <c:val>
            <c:numRef>
              <c:f>Sheet1!$B$2:$B$3</c:f>
              <c:numCache>
                <c:formatCode>#,##0.0</c:formatCode>
                <c:ptCount val="2"/>
                <c:pt idx="0">
                  <c:v>10.1</c:v>
                </c:pt>
                <c:pt idx="1">
                  <c:v>10.8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BD6"/>
            </a:solidFill>
          </a:ln>
        </c:spPr>
        <c:txPr>
          <a:bodyPr/>
          <a:lstStyle/>
          <a:p>
            <a:pPr>
              <a:defRPr sz="900">
                <a:latin typeface="Montserrat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F2F3F7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9CBD6"/>
            </a:solidFill>
          </a:ln>
        </c:spPr>
        <c:txPr>
          <a:bodyPr/>
          <a:lstStyle/>
          <a:p>
            <a:pPr>
              <a:defRPr sz="900">
                <a:latin typeface="Montserrat Medium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rgbClr val="03045E"/>
            </a:solidFill>
            <a:ln>
              <a:noFill/>
            </a:ln>
          </c:spPr>
          <c:dLbls>
            <c:numFmt formatCode="#,##0.0" sourceLinked="0"/>
            <c:txPr>
              <a:bodyPr/>
              <a:lstStyle/>
              <a:p>
                <a:pPr>
                  <a:defRPr sz="900">
                    <a:latin typeface="Montserrat Medium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[Driver 3]</c:v>
                </c:pt>
                <c:pt idx="1">
                  <c:v>[Driver 2]</c:v>
                </c:pt>
                <c:pt idx="2">
                  <c:v>[Driver 1]</c:v>
                </c:pt>
              </c:strCache>
            </c:strRef>
          </c:cat>
          <c:val>
            <c:numRef>
              <c:f>Sheet1!$B$2:$B$4</c:f>
              <c:numCache>
                <c:formatCode>#,##0.0</c:formatCode>
                <c:ptCount val="3"/>
                <c:pt idx="0">
                  <c:v>9.2</c:v>
                </c:pt>
                <c:pt idx="1">
                  <c:v>8.7</c:v>
                </c:pt>
                <c:pt idx="2">
                  <c:v>7.9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rgbClr val="0728A3"/>
            </a:solidFill>
            <a:ln>
              <a:noFill/>
            </a:ln>
          </c:spPr>
          <c:dLbls>
            <c:numFmt formatCode="#,##0.0" sourceLinked="0"/>
            <c:txPr>
              <a:bodyPr/>
              <a:lstStyle/>
              <a:p>
                <a:pPr>
                  <a:defRPr sz="900">
                    <a:latin typeface="Montserrat Medium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[Driver 3]</c:v>
                </c:pt>
                <c:pt idx="1">
                  <c:v>[Driver 2]</c:v>
                </c:pt>
                <c:pt idx="2">
                  <c:v>[Driver 1]</c:v>
                </c:pt>
              </c:strCache>
            </c:strRef>
          </c:cat>
          <c:val>
            <c:numRef>
              <c:f>Sheet1!$C$2:$C$4</c:f>
              <c:numCache>
                <c:formatCode>#,##0.0</c:formatCode>
                <c:ptCount val="3"/>
                <c:pt idx="0">
                  <c:v>11.4</c:v>
                </c:pt>
                <c:pt idx="1">
                  <c:v>12.1</c:v>
                </c:pt>
                <c:pt idx="2">
                  <c:v>13.2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CBD6"/>
            </a:solidFill>
          </a:ln>
        </c:spPr>
        <c:txPr>
          <a:bodyPr/>
          <a:lstStyle/>
          <a:p>
            <a:pPr>
              <a:defRPr sz="900">
                <a:latin typeface="Montserrat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F2F3F7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9CBD6"/>
            </a:solidFill>
          </a:ln>
        </c:spPr>
        <c:txPr>
          <a:bodyPr/>
          <a:lstStyle/>
          <a:p>
            <a:pPr>
              <a:defRPr sz="900">
                <a:latin typeface="Montserrat Medium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Montserrat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Wordmark"/>
          <p:cNvSpPr txBox="1"/>
          <p:nvPr/>
        </p:nvSpPr>
        <p:spPr>
          <a:xfrm>
            <a:off x="365760" y="6455664"/>
            <a:ext cx="1645920" cy="310896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r>
              <a:rPr b="1" sz="1500">
                <a:solidFill>
                  <a:srgbClr val="03045E"/>
                </a:solidFill>
                <a:latin typeface="Montserrat"/>
              </a:rPr>
              <a:t>Aqmen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 i="0">
                <a:solidFill>
                  <a:srgbClr val="03045E"/>
                </a:solidFill>
                <a:latin typeface="Montserrat"/>
              </a:rPr>
              <a:t>The [Market]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0728A3"/>
                </a:solidFill>
                <a:latin typeface="Montserrat"/>
              </a:rPr>
              <a:t>Market sizing &amp; growth outlook — Commercial Due Diligence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02E2E"/>
                </a:solidFill>
                <a:latin typeface="Montserrat Medium"/>
              </a:rPr>
              <a:t>Discussion Materials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598932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3045E"/>
                </a:solidFill>
                <a:latin typeface="Montserrat"/>
              </a:rPr>
              <a:t>Aqmen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68735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8A"/>
                </a:solidFill>
                <a:latin typeface="Montserrat Medium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3045E"/>
                </a:solidFill>
                <a:latin typeface="Montserrat"/>
              </a:rPr>
              <a:t>Agenda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023360" y="1901952"/>
            <a:ext cx="4206240" cy="0"/>
          </a:xfrm>
          <a:prstGeom prst="bentConnector3">
            <a:avLst/>
          </a:prstGeom>
          <a:ln w="12700">
            <a:solidFill>
              <a:srgbClr val="0304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60520" y="2011680"/>
            <a:ext cx="3931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03045E"/>
                </a:solidFill>
                <a:latin typeface="Montserrat"/>
              </a:rPr>
              <a:t>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2487168"/>
            <a:ext cx="4206240" cy="475488"/>
          </a:xfrm>
          <a:prstGeom prst="rect">
            <a:avLst/>
          </a:prstGeom>
          <a:solidFill>
            <a:srgbClr val="0204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60520" y="2487168"/>
            <a:ext cx="3931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EFFFF"/>
                </a:solidFill>
                <a:latin typeface="Montserrat"/>
              </a:rPr>
              <a:t>Market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2962656"/>
            <a:ext cx="4206240" cy="475488"/>
          </a:xfrm>
          <a:prstGeom prst="rect">
            <a:avLst/>
          </a:prstGeom>
          <a:solidFill>
            <a:srgbClr val="D6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962656"/>
            <a:ext cx="3657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3045E"/>
                </a:solidFill>
                <a:latin typeface="Montserrat"/>
              </a:rPr>
              <a:t>- Definition &amp; Projections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3438144"/>
            <a:ext cx="3657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03045E"/>
                </a:solidFill>
                <a:latin typeface="Montserrat"/>
              </a:rPr>
              <a:t>- Deep Dive on Assumptions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3913632"/>
            <a:ext cx="3931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03045E"/>
                </a:solidFill>
                <a:latin typeface="Montserrat"/>
              </a:rPr>
              <a:t>Competitive 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4389120"/>
            <a:ext cx="3931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03045E"/>
                </a:solidFill>
                <a:latin typeface="Montserrat"/>
              </a:rPr>
              <a:t>Appendix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23360" y="4937760"/>
            <a:ext cx="4206240" cy="0"/>
          </a:xfrm>
          <a:prstGeom prst="bentConnector3">
            <a:avLst/>
          </a:prstGeom>
          <a:ln w="12700">
            <a:solidFill>
              <a:srgbClr val="0304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68735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8A"/>
                </a:solidFill>
                <a:latin typeface="Montserrat Medium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03045E"/>
                </a:solidFill>
                <a:latin typeface="Montserrat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2103120" cy="1584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3045E"/>
                </a:solidFill>
                <a:latin typeface="Montserrat"/>
              </a:rPr>
              <a:t>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1673352"/>
            <a:ext cx="8899855" cy="1584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050" b="0" i="0">
                <a:solidFill>
                  <a:srgbClr val="302E2E"/>
                </a:solidFill>
                <a:latin typeface="Montserrat Medium"/>
              </a:rPr>
              <a:t>Size the [market] and its trajectory to underwrite the investment thesis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050" b="0" i="0">
                <a:solidFill>
                  <a:srgbClr val="302E2E"/>
                </a:solidFill>
                <a:latin typeface="Montserrat Medium"/>
              </a:rPr>
              <a:t>Question answered: how large is the serviceable opportunity, and how fast is it growing?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3185160"/>
            <a:ext cx="11185855" cy="0"/>
          </a:xfrm>
          <a:prstGeom prst="bentConnector3">
            <a:avLst/>
          </a:prstGeom>
          <a:ln w="9525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3276600"/>
            <a:ext cx="2103120" cy="1584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3045E"/>
                </a:solidFill>
                <a:latin typeface="Montserrat"/>
              </a:rPr>
              <a:t>Market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3258312"/>
            <a:ext cx="8899855" cy="1584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050" b="0" i="0">
                <a:solidFill>
                  <a:srgbClr val="302E2E"/>
                </a:solidFill>
                <a:latin typeface="Montserrat Medium"/>
              </a:rPr>
              <a:t>TAM of ~$[XX]B in [base year], with a serviceable market (SAM) of ~$[XX]B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050" b="0" i="0">
                <a:solidFill>
                  <a:srgbClr val="302E2E"/>
                </a:solidFill>
                <a:latin typeface="Montserrat Medium"/>
              </a:rPr>
              <a:t>Projected to grow ~[X]% annually through [year] as [key driver] plays out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050" b="0" i="0">
                <a:solidFill>
                  <a:srgbClr val="302E2E"/>
                </a:solidFill>
                <a:latin typeface="Montserrat Medium"/>
              </a:rPr>
              <a:t>[Region] leads with ~[XX]% of value on higher penetration and pricing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4770120"/>
            <a:ext cx="11185855" cy="0"/>
          </a:xfrm>
          <a:prstGeom prst="bentConnector3">
            <a:avLst/>
          </a:prstGeom>
          <a:ln w="9525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4861560"/>
            <a:ext cx="2103120" cy="1584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3045E"/>
                </a:solidFill>
                <a:latin typeface="Montserrat"/>
              </a:rPr>
              <a:t>Confidence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4843272"/>
            <a:ext cx="8899855" cy="1584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050" b="0" i="0">
                <a:solidFill>
                  <a:srgbClr val="302E2E"/>
                </a:solidFill>
                <a:latin typeface="Montserrat Medium"/>
              </a:rPr>
              <a:t>Base case triangulated top-down and bottom-up to within [X]%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050" b="0" i="0">
                <a:solidFill>
                  <a:srgbClr val="302E2E"/>
                </a:solidFill>
                <a:latin typeface="Montserrat Medium"/>
              </a:rPr>
              <a:t>Lowest-confidence, highest-leverage driver: [driver] — see sensitivity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65215" y="1097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Market Sizing:  </a:t>
            </a:r>
            <a:r>
              <a:rPr sz="1050" b="0" i="1">
                <a:solidFill>
                  <a:srgbClr val="03045E"/>
                </a:solidFill>
                <a:latin typeface="Montserrat"/>
              </a:rPr>
              <a:t>Objective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652881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A8A"/>
                </a:solidFill>
                <a:latin typeface="Montserrat Medium"/>
              </a:rPr>
              <a:t>Source: [client scope], aqmen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8A"/>
                </a:solidFill>
                <a:latin typeface="Montserrat Medium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585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3045E"/>
                </a:solidFill>
                <a:latin typeface="Montserrat"/>
              </a:rPr>
              <a:t>We size the [market] on a clear, decision-relevant boundary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7269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3045E"/>
                </a:solidFill>
                <a:latin typeface="Montserrat"/>
              </a:rPr>
              <a:t>Definition &amp;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94560"/>
            <a:ext cx="726948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1" i="0">
                <a:solidFill>
                  <a:srgbClr val="302E2E"/>
                </a:solidFill>
                <a:latin typeface="Montserrat Medium"/>
              </a:rPr>
              <a:t>In scope: [products / services], [geographies], [customer types]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Out of scope: [adjacencies excluded], and why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    –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Geography: [regions]; horizon: [base year] – [year], annual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    –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Currency: $; figures directional unless sourced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001000" y="1463040"/>
            <a:ext cx="0" cy="489204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8275320" y="1490472"/>
            <a:ext cx="201168" cy="201168"/>
          </a:xfrm>
          <a:prstGeom prst="triangle">
            <a:avLst/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67928" y="147218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3045E"/>
                </a:solidFill>
                <a:latin typeface="Montserrat"/>
              </a:rPr>
              <a:t>Key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920240"/>
            <a:ext cx="3429000" cy="4434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A tight boundary keeps the size decision-relevant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Adjacencies are flagged, not silently included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65215" y="1097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Market Sizing:  </a:t>
            </a:r>
            <a:r>
              <a:rPr sz="1050" b="0" i="1">
                <a:solidFill>
                  <a:srgbClr val="03045E"/>
                </a:solidFill>
                <a:latin typeface="Montserrat"/>
              </a:rPr>
              <a:t>Data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652881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A8A"/>
                </a:solidFill>
                <a:latin typeface="Montserrat Medium"/>
              </a:rPr>
              <a:t>Source: Eurostat, Statista, company filings, aqmen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8A"/>
                </a:solidFill>
                <a:latin typeface="Montserrat Medium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585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3045E"/>
                </a:solidFill>
                <a:latin typeface="Montserrat"/>
              </a:rPr>
              <a:t>Public data covers [X]; the gaps that forced estimates are flagged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1536192"/>
            <a:ext cx="1554480" cy="219456"/>
          </a:xfrm>
          <a:prstGeom prst="rect">
            <a:avLst/>
          </a:prstGeom>
          <a:noFill/>
          <a:ln w="6350">
            <a:solidFill>
              <a:srgbClr val="8A8A8A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302E2E"/>
                </a:solidFill>
                <a:latin typeface="Montserrat Medium"/>
              </a:rPr>
              <a:t>ILLUSTRATIVE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72694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1" i="0">
                <a:solidFill>
                  <a:srgbClr val="302E2E"/>
                </a:solidFill>
                <a:latin typeface="Montserrat Medium"/>
              </a:rPr>
              <a:t>Strong coverage: [official statistics], [analyst databases]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Partial coverage: [breakdown] available only for [subset]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Gaps: [segment] estimated bottom-up — labelled and low-confidence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001000" y="1463040"/>
            <a:ext cx="0" cy="489204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8275320" y="1490472"/>
            <a:ext cx="201168" cy="201168"/>
          </a:xfrm>
          <a:prstGeom prst="triangle">
            <a:avLst/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67928" y="147218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3045E"/>
                </a:solidFill>
                <a:latin typeface="Montserrat"/>
              </a:rPr>
              <a:t>Key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920240"/>
            <a:ext cx="3429000" cy="4434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Where data is thin, we estimate transparently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No estimate is presented as observed data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Watch-out: [segment] is a bottom-up estimate (confidence 2) — the biggest data gap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65215" y="1097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Market Sizing:  </a:t>
            </a:r>
            <a:r>
              <a:rPr sz="1050" b="0" i="1">
                <a:solidFill>
                  <a:srgbClr val="03045E"/>
                </a:solidFill>
                <a:latin typeface="Montserrat"/>
              </a:rPr>
              <a:t>Market expression &amp;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652881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A8A"/>
                </a:solidFill>
                <a:latin typeface="Montserrat Medium"/>
              </a:rPr>
              <a:t>Source: aqmen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8A"/>
                </a:solidFill>
                <a:latin typeface="Montserrat Medium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585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3045E"/>
                </a:solidFill>
                <a:latin typeface="Montserrat"/>
              </a:rPr>
              <a:t>The market resolves to a price × quantity build on a few key drivers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111858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3045E"/>
                </a:solidFill>
                <a:latin typeface="Montserrat"/>
              </a:rPr>
              <a:t>[Market] — market expression &amp; driver tree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0895" y="1673352"/>
            <a:ext cx="12344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03045E"/>
                </a:solidFill>
                <a:latin typeface="Montserrat"/>
              </a:rPr>
              <a:t>Certainty:</a:t>
            </a:r>
          </a:p>
        </p:txBody>
      </p:sp>
      <p:sp>
        <p:nvSpPr>
          <p:cNvPr id="9" name="Oval 8"/>
          <p:cNvSpPr/>
          <p:nvPr/>
        </p:nvSpPr>
        <p:spPr>
          <a:xfrm>
            <a:off x="7071055" y="1709928"/>
            <a:ext cx="118872" cy="118872"/>
          </a:xfrm>
          <a:prstGeom prst="ellipse">
            <a:avLst/>
          </a:prstGeom>
          <a:solidFill>
            <a:srgbClr val="9B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35647" y="1673352"/>
            <a:ext cx="7772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302E2E"/>
                </a:solidFill>
                <a:latin typeface="Montserrat Medium"/>
              </a:rPr>
              <a:t>Low</a:t>
            </a:r>
          </a:p>
        </p:txBody>
      </p:sp>
      <p:sp>
        <p:nvSpPr>
          <p:cNvPr id="11" name="Oval 10"/>
          <p:cNvSpPr/>
          <p:nvPr/>
        </p:nvSpPr>
        <p:spPr>
          <a:xfrm>
            <a:off x="8122615" y="1709928"/>
            <a:ext cx="118872" cy="118872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7207" y="1673352"/>
            <a:ext cx="7772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302E2E"/>
                </a:solidFill>
                <a:latin typeface="Montserrat Medium"/>
              </a:rPr>
              <a:t>Medium</a:t>
            </a:r>
          </a:p>
        </p:txBody>
      </p:sp>
      <p:sp>
        <p:nvSpPr>
          <p:cNvPr id="13" name="Oval 12"/>
          <p:cNvSpPr/>
          <p:nvPr/>
        </p:nvSpPr>
        <p:spPr>
          <a:xfrm>
            <a:off x="9174175" y="1709928"/>
            <a:ext cx="118872" cy="118872"/>
          </a:xfrm>
          <a:prstGeom prst="ellipse">
            <a:avLst/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8767" y="1673352"/>
            <a:ext cx="7772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302E2E"/>
                </a:solidFill>
                <a:latin typeface="Montserrat Medium"/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1901952"/>
            <a:ext cx="342381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1">
                <a:solidFill>
                  <a:srgbClr val="03045E"/>
                </a:solidFill>
                <a:latin typeface="Montserrat"/>
              </a:rPr>
              <a:t>Market expression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17620"/>
            <a:ext cx="3423818" cy="868680"/>
          </a:xfrm>
          <a:prstGeom prst="roundRect">
            <a:avLst>
              <a:gd name="adj" fmla="val 8000"/>
            </a:avLst>
          </a:prstGeom>
          <a:solidFill>
            <a:srgbClr val="D6EEF5"/>
          </a:solidFill>
          <a:ln w="952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" y="3817620"/>
            <a:ext cx="331409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03045E"/>
                </a:solidFill>
                <a:latin typeface="Montserrat"/>
              </a:rPr>
              <a:t>[Market] size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4229100"/>
            <a:ext cx="331409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1">
                <a:solidFill>
                  <a:srgbClr val="0728A3"/>
                </a:solidFill>
                <a:latin typeface="Montserrat Medium"/>
              </a:rPr>
              <a:t>= engagements × avg cost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7784" y="4393692"/>
            <a:ext cx="3314090" cy="274320"/>
          </a:xfrm>
          <a:prstGeom prst="roundRect">
            <a:avLst>
              <a:gd name="adj" fmla="val 12000"/>
            </a:avLst>
          </a:prstGeom>
          <a:solidFill>
            <a:srgbClr val="0204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" y="4393692"/>
            <a:ext cx="331409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EFFFF"/>
                </a:solidFill>
                <a:latin typeface="Montserrat Medium"/>
              </a:rPr>
              <a:t>$mn</a:t>
            </a:r>
          </a:p>
        </p:txBody>
      </p:sp>
      <p:sp>
        <p:nvSpPr>
          <p:cNvPr id="21" name="Oval 20"/>
          <p:cNvSpPr/>
          <p:nvPr/>
        </p:nvSpPr>
        <p:spPr>
          <a:xfrm>
            <a:off x="3771290" y="3863340"/>
            <a:ext cx="109728" cy="109728"/>
          </a:xfrm>
          <a:prstGeom prst="ellipse">
            <a:avLst/>
          </a:prstGeom>
          <a:solidFill>
            <a:srgbClr val="03045E"/>
          </a:solidFill>
          <a:ln w="9525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3938" y="1901952"/>
            <a:ext cx="342381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1">
                <a:solidFill>
                  <a:srgbClr val="03045E"/>
                </a:solidFill>
                <a:latin typeface="Montserrat"/>
              </a:rPr>
              <a:t>Quantity × Price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3938" y="3300984"/>
            <a:ext cx="3423818" cy="868680"/>
          </a:xfrm>
          <a:prstGeom prst="roundRect">
            <a:avLst>
              <a:gd name="adj" fmla="val 8000"/>
            </a:avLst>
          </a:prstGeom>
          <a:solidFill>
            <a:srgbClr val="D6EEF5"/>
          </a:solidFill>
          <a:ln w="952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8802" y="3300984"/>
            <a:ext cx="331409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03045E"/>
                </a:solidFill>
                <a:latin typeface="Montserrat"/>
              </a:rPr>
              <a:t># of engagements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8802" y="3712464"/>
            <a:ext cx="331409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1">
                <a:solidFill>
                  <a:srgbClr val="0728A3"/>
                </a:solidFill>
                <a:latin typeface="Montserrat Medium"/>
              </a:rPr>
              <a:t>= deals × parties × penetration × share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8802" y="3877056"/>
            <a:ext cx="3314090" cy="274320"/>
          </a:xfrm>
          <a:prstGeom prst="roundRect">
            <a:avLst>
              <a:gd name="adj" fmla="val 12000"/>
            </a:avLst>
          </a:prstGeom>
          <a:solidFill>
            <a:srgbClr val="0204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8802" y="3877056"/>
            <a:ext cx="331409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EFFFF"/>
                </a:solidFill>
                <a:latin typeface="Montserrat Medium"/>
              </a:rPr>
              <a:t>[eng.]</a:t>
            </a:r>
          </a:p>
        </p:txBody>
      </p:sp>
      <p:sp>
        <p:nvSpPr>
          <p:cNvPr id="28" name="Oval 27"/>
          <p:cNvSpPr/>
          <p:nvPr/>
        </p:nvSpPr>
        <p:spPr>
          <a:xfrm>
            <a:off x="7652308" y="3346704"/>
            <a:ext cx="109728" cy="109728"/>
          </a:xfrm>
          <a:prstGeom prst="ellipse">
            <a:avLst/>
          </a:prstGeom>
          <a:solidFill>
            <a:srgbClr val="B7791F"/>
          </a:solidFill>
          <a:ln w="9525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383938" y="4334256"/>
            <a:ext cx="3423818" cy="868680"/>
          </a:xfrm>
          <a:prstGeom prst="roundRect">
            <a:avLst>
              <a:gd name="adj" fmla="val 8000"/>
            </a:avLst>
          </a:prstGeom>
          <a:solidFill>
            <a:srgbClr val="D6EEF5"/>
          </a:solidFill>
          <a:ln w="952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8802" y="4334256"/>
            <a:ext cx="331409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03045E"/>
                </a:solidFill>
                <a:latin typeface="Montserrat"/>
              </a:rPr>
              <a:t>Avg engagement cost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8802" y="4745736"/>
            <a:ext cx="331409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1">
                <a:solidFill>
                  <a:srgbClr val="0728A3"/>
                </a:solidFill>
                <a:latin typeface="Montserrat Medium"/>
              </a:rPr>
              <a:t>= weekly rate × duration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38802" y="4910328"/>
            <a:ext cx="3314090" cy="274320"/>
          </a:xfrm>
          <a:prstGeom prst="roundRect">
            <a:avLst>
              <a:gd name="adj" fmla="val 12000"/>
            </a:avLst>
          </a:prstGeom>
          <a:solidFill>
            <a:srgbClr val="0204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8802" y="4910328"/>
            <a:ext cx="331409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EFFFF"/>
                </a:solidFill>
                <a:latin typeface="Montserrat Medium"/>
              </a:rPr>
              <a:t>[$/eng.]</a:t>
            </a:r>
          </a:p>
        </p:txBody>
      </p:sp>
      <p:sp>
        <p:nvSpPr>
          <p:cNvPr id="34" name="Oval 33"/>
          <p:cNvSpPr/>
          <p:nvPr/>
        </p:nvSpPr>
        <p:spPr>
          <a:xfrm>
            <a:off x="7652308" y="4379976"/>
            <a:ext cx="109728" cy="109728"/>
          </a:xfrm>
          <a:prstGeom prst="ellipse">
            <a:avLst/>
          </a:prstGeom>
          <a:solidFill>
            <a:srgbClr val="B7791F"/>
          </a:solidFill>
          <a:ln w="9525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64956" y="1901952"/>
            <a:ext cx="342381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1">
                <a:solidFill>
                  <a:srgbClr val="03045E"/>
                </a:solidFill>
                <a:latin typeface="Montserrat"/>
              </a:rPr>
              <a:t>Drivers (leaf assumptions)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64956" y="2286000"/>
            <a:ext cx="3423818" cy="518160"/>
          </a:xfrm>
          <a:prstGeom prst="roundRect">
            <a:avLst>
              <a:gd name="adj" fmla="val 8000"/>
            </a:avLst>
          </a:prstGeom>
          <a:solidFill>
            <a:srgbClr val="D6EEF5"/>
          </a:solidFill>
          <a:ln w="952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19820" y="2286000"/>
            <a:ext cx="3314090" cy="331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03045E"/>
                </a:solidFill>
                <a:latin typeface="Montserrat"/>
              </a:rPr>
              <a:t># of deals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19820" y="2599335"/>
            <a:ext cx="3314090" cy="186537"/>
          </a:xfrm>
          <a:prstGeom prst="roundRect">
            <a:avLst>
              <a:gd name="adj" fmla="val 12000"/>
            </a:avLst>
          </a:prstGeom>
          <a:solidFill>
            <a:srgbClr val="0204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19820" y="2599335"/>
            <a:ext cx="3314090" cy="1865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EFFFF"/>
                </a:solidFill>
                <a:latin typeface="Montserrat Medium"/>
              </a:rPr>
              <a:t>[deals]</a:t>
            </a:r>
          </a:p>
        </p:txBody>
      </p:sp>
      <p:sp>
        <p:nvSpPr>
          <p:cNvPr id="40" name="Oval 39"/>
          <p:cNvSpPr/>
          <p:nvPr/>
        </p:nvSpPr>
        <p:spPr>
          <a:xfrm>
            <a:off x="11533326" y="2331720"/>
            <a:ext cx="109728" cy="109728"/>
          </a:xfrm>
          <a:prstGeom prst="ellipse">
            <a:avLst/>
          </a:prstGeom>
          <a:solidFill>
            <a:srgbClr val="B7791F"/>
          </a:solidFill>
          <a:ln w="9525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264956" y="2968752"/>
            <a:ext cx="3423818" cy="518160"/>
          </a:xfrm>
          <a:prstGeom prst="roundRect">
            <a:avLst>
              <a:gd name="adj" fmla="val 8000"/>
            </a:avLst>
          </a:prstGeom>
          <a:solidFill>
            <a:srgbClr val="D6EEF5"/>
          </a:solidFill>
          <a:ln w="952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19820" y="2968752"/>
            <a:ext cx="3314090" cy="331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03045E"/>
                </a:solidFill>
                <a:latin typeface="Montserrat"/>
              </a:rPr>
              <a:t>Interested parties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19820" y="3282087"/>
            <a:ext cx="3314090" cy="186537"/>
          </a:xfrm>
          <a:prstGeom prst="roundRect">
            <a:avLst>
              <a:gd name="adj" fmla="val 12000"/>
            </a:avLst>
          </a:prstGeom>
          <a:solidFill>
            <a:srgbClr val="0204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19820" y="3282087"/>
            <a:ext cx="3314090" cy="1865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EFFFF"/>
                </a:solidFill>
                <a:latin typeface="Montserrat Medium"/>
              </a:rPr>
              <a:t>[/deal]</a:t>
            </a:r>
          </a:p>
        </p:txBody>
      </p:sp>
      <p:sp>
        <p:nvSpPr>
          <p:cNvPr id="45" name="Oval 44"/>
          <p:cNvSpPr/>
          <p:nvPr/>
        </p:nvSpPr>
        <p:spPr>
          <a:xfrm>
            <a:off x="11533326" y="3014472"/>
            <a:ext cx="109728" cy="109728"/>
          </a:xfrm>
          <a:prstGeom prst="ellipse">
            <a:avLst/>
          </a:prstGeom>
          <a:solidFill>
            <a:srgbClr val="9B1C1C"/>
          </a:solidFill>
          <a:ln w="9525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264956" y="3651504"/>
            <a:ext cx="3423818" cy="518160"/>
          </a:xfrm>
          <a:prstGeom prst="roundRect">
            <a:avLst>
              <a:gd name="adj" fmla="val 8000"/>
            </a:avLst>
          </a:prstGeom>
          <a:solidFill>
            <a:srgbClr val="D6EEF5"/>
          </a:solidFill>
          <a:ln w="952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19820" y="3651504"/>
            <a:ext cx="3314090" cy="331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03045E"/>
                </a:solidFill>
                <a:latin typeface="Montserrat"/>
              </a:rPr>
              <a:t>Penetration rate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19820" y="3964839"/>
            <a:ext cx="3314090" cy="186537"/>
          </a:xfrm>
          <a:prstGeom prst="roundRect">
            <a:avLst>
              <a:gd name="adj" fmla="val 12000"/>
            </a:avLst>
          </a:prstGeom>
          <a:solidFill>
            <a:srgbClr val="0204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19820" y="3964839"/>
            <a:ext cx="3314090" cy="1865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EFFFF"/>
                </a:solidFill>
                <a:latin typeface="Montserrat Medium"/>
              </a:rPr>
              <a:t>[%]</a:t>
            </a:r>
          </a:p>
        </p:txBody>
      </p:sp>
      <p:sp>
        <p:nvSpPr>
          <p:cNvPr id="50" name="Oval 49"/>
          <p:cNvSpPr/>
          <p:nvPr/>
        </p:nvSpPr>
        <p:spPr>
          <a:xfrm>
            <a:off x="11533326" y="3697224"/>
            <a:ext cx="109728" cy="109728"/>
          </a:xfrm>
          <a:prstGeom prst="ellipse">
            <a:avLst/>
          </a:prstGeom>
          <a:solidFill>
            <a:srgbClr val="9B1C1C"/>
          </a:solidFill>
          <a:ln w="9525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264956" y="4334256"/>
            <a:ext cx="3423818" cy="518160"/>
          </a:xfrm>
          <a:prstGeom prst="roundRect">
            <a:avLst>
              <a:gd name="adj" fmla="val 8000"/>
            </a:avLst>
          </a:prstGeom>
          <a:solidFill>
            <a:srgbClr val="D6EEF5"/>
          </a:solidFill>
          <a:ln w="952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19820" y="4334256"/>
            <a:ext cx="3314090" cy="331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03045E"/>
                </a:solidFill>
                <a:latin typeface="Montserrat"/>
              </a:rPr>
              <a:t>Provider share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319820" y="4647591"/>
            <a:ext cx="3314090" cy="186537"/>
          </a:xfrm>
          <a:prstGeom prst="roundRect">
            <a:avLst>
              <a:gd name="adj" fmla="val 12000"/>
            </a:avLst>
          </a:prstGeom>
          <a:solidFill>
            <a:srgbClr val="0204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19820" y="4647591"/>
            <a:ext cx="3314090" cy="1865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EFFFF"/>
                </a:solidFill>
                <a:latin typeface="Montserrat Medium"/>
              </a:rPr>
              <a:t>[%]</a:t>
            </a:r>
          </a:p>
        </p:txBody>
      </p:sp>
      <p:sp>
        <p:nvSpPr>
          <p:cNvPr id="55" name="Oval 54"/>
          <p:cNvSpPr/>
          <p:nvPr/>
        </p:nvSpPr>
        <p:spPr>
          <a:xfrm>
            <a:off x="11533326" y="4379976"/>
            <a:ext cx="109728" cy="109728"/>
          </a:xfrm>
          <a:prstGeom prst="ellipse">
            <a:avLst/>
          </a:prstGeom>
          <a:solidFill>
            <a:srgbClr val="9B1C1C"/>
          </a:solidFill>
          <a:ln w="9525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264956" y="5017008"/>
            <a:ext cx="3423818" cy="518160"/>
          </a:xfrm>
          <a:prstGeom prst="roundRect">
            <a:avLst>
              <a:gd name="adj" fmla="val 8000"/>
            </a:avLst>
          </a:prstGeom>
          <a:solidFill>
            <a:srgbClr val="D6EEF5"/>
          </a:solidFill>
          <a:ln w="952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19820" y="5017008"/>
            <a:ext cx="3314090" cy="331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03045E"/>
                </a:solidFill>
                <a:latin typeface="Montserrat"/>
              </a:rPr>
              <a:t>Avg weekly rate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319820" y="5330343"/>
            <a:ext cx="3314090" cy="186537"/>
          </a:xfrm>
          <a:prstGeom prst="roundRect">
            <a:avLst>
              <a:gd name="adj" fmla="val 12000"/>
            </a:avLst>
          </a:prstGeom>
          <a:solidFill>
            <a:srgbClr val="0204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19820" y="5330343"/>
            <a:ext cx="3314090" cy="1865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EFFFF"/>
                </a:solidFill>
                <a:latin typeface="Montserrat Medium"/>
              </a:rPr>
              <a:t>[$/wk]</a:t>
            </a:r>
          </a:p>
        </p:txBody>
      </p:sp>
      <p:sp>
        <p:nvSpPr>
          <p:cNvPr id="60" name="Oval 59"/>
          <p:cNvSpPr/>
          <p:nvPr/>
        </p:nvSpPr>
        <p:spPr>
          <a:xfrm>
            <a:off x="11533326" y="5062728"/>
            <a:ext cx="109728" cy="109728"/>
          </a:xfrm>
          <a:prstGeom prst="ellipse">
            <a:avLst/>
          </a:prstGeom>
          <a:solidFill>
            <a:srgbClr val="B7791F"/>
          </a:solidFill>
          <a:ln w="9525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264956" y="5699760"/>
            <a:ext cx="3423818" cy="518160"/>
          </a:xfrm>
          <a:prstGeom prst="roundRect">
            <a:avLst>
              <a:gd name="adj" fmla="val 8000"/>
            </a:avLst>
          </a:prstGeom>
          <a:solidFill>
            <a:srgbClr val="D6EEF5"/>
          </a:solidFill>
          <a:ln w="952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19820" y="5699760"/>
            <a:ext cx="3314090" cy="331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03045E"/>
                </a:solidFill>
                <a:latin typeface="Montserrat"/>
              </a:rPr>
              <a:t>Avg duration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319820" y="6013095"/>
            <a:ext cx="3314090" cy="186537"/>
          </a:xfrm>
          <a:prstGeom prst="roundRect">
            <a:avLst>
              <a:gd name="adj" fmla="val 12000"/>
            </a:avLst>
          </a:prstGeom>
          <a:solidFill>
            <a:srgbClr val="0204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19820" y="6013095"/>
            <a:ext cx="3314090" cy="1865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EFFFF"/>
                </a:solidFill>
                <a:latin typeface="Montserrat Medium"/>
              </a:rPr>
              <a:t>[wks]</a:t>
            </a:r>
          </a:p>
        </p:txBody>
      </p:sp>
      <p:sp>
        <p:nvSpPr>
          <p:cNvPr id="65" name="Oval 64"/>
          <p:cNvSpPr/>
          <p:nvPr/>
        </p:nvSpPr>
        <p:spPr>
          <a:xfrm>
            <a:off x="11533326" y="5745480"/>
            <a:ext cx="109728" cy="109728"/>
          </a:xfrm>
          <a:prstGeom prst="ellipse">
            <a:avLst/>
          </a:prstGeom>
          <a:solidFill>
            <a:srgbClr val="9B1C1C"/>
          </a:solidFill>
          <a:ln w="9525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4155338" y="3735324"/>
            <a:ext cx="0" cy="1033272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3926738" y="4251960"/>
            <a:ext cx="228600" cy="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155338" y="3735324"/>
            <a:ext cx="228600" cy="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155338" y="4768596"/>
            <a:ext cx="228600" cy="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3903878" y="4114800"/>
            <a:ext cx="274320" cy="274320"/>
          </a:xfrm>
          <a:prstGeom prst="ellipse">
            <a:avLst/>
          </a:prstGeom>
          <a:solidFill>
            <a:srgbClr val="FEFFFF"/>
          </a:solidFill>
          <a:ln w="12700">
            <a:solidFill>
              <a:srgbClr val="030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903878" y="411480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3045E"/>
                </a:solidFill>
                <a:latin typeface="Montserrat"/>
              </a:rPr>
              <a:t>×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8036356" y="2545080"/>
            <a:ext cx="0" cy="2048256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807756" y="3735324"/>
            <a:ext cx="228600" cy="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8036356" y="2545080"/>
            <a:ext cx="228600" cy="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8036356" y="3227832"/>
            <a:ext cx="228600" cy="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036356" y="3910584"/>
            <a:ext cx="228600" cy="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8036356" y="4593336"/>
            <a:ext cx="228600" cy="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>
            <a:off x="7784896" y="3598164"/>
            <a:ext cx="274320" cy="274320"/>
          </a:xfrm>
          <a:prstGeom prst="ellipse">
            <a:avLst/>
          </a:prstGeom>
          <a:solidFill>
            <a:srgbClr val="FEFFFF"/>
          </a:solidFill>
          <a:ln w="12700">
            <a:solidFill>
              <a:srgbClr val="030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784896" y="359816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3045E"/>
                </a:solidFill>
                <a:latin typeface="Montserrat"/>
              </a:rPr>
              <a:t>×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8036356" y="4768596"/>
            <a:ext cx="0" cy="1190244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7756" y="4768596"/>
            <a:ext cx="228600" cy="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036356" y="5276088"/>
            <a:ext cx="228600" cy="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036356" y="5958840"/>
            <a:ext cx="228600" cy="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7784896" y="4631436"/>
            <a:ext cx="274320" cy="274320"/>
          </a:xfrm>
          <a:prstGeom prst="ellipse">
            <a:avLst/>
          </a:prstGeom>
          <a:solidFill>
            <a:srgbClr val="FEFFFF"/>
          </a:solidFill>
          <a:ln w="12700">
            <a:solidFill>
              <a:srgbClr val="030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784896" y="463143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3045E"/>
                </a:solidFill>
                <a:latin typeface="Montserrat"/>
              </a:rPr>
              <a:t>×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2920" y="633679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3045E"/>
                </a:solidFill>
                <a:latin typeface="Montserrat Medium"/>
              </a:rPr>
              <a:t>▸ </a:t>
            </a:r>
            <a:r>
              <a:rPr sz="900" b="0" i="1">
                <a:solidFill>
                  <a:srgbClr val="8A8A8A"/>
                </a:solidFill>
                <a:latin typeface="Montserrat Medium"/>
              </a:rPr>
              <a:t>Each driver is estimated per segment (Geography · Deal size · Customer · Provider); the segment cross-product is modelled, not shown 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65215" y="1097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Market Sizing:  </a:t>
            </a:r>
            <a:r>
              <a:rPr sz="1050" b="0" i="1">
                <a:solidFill>
                  <a:srgbClr val="03045E"/>
                </a:solidFill>
                <a:latin typeface="Montserrat"/>
              </a:rPr>
              <a:t>Headline TAM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652881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A8A"/>
                </a:solidFill>
                <a:latin typeface="Montserrat Medium"/>
              </a:rPr>
              <a:t>Source: [sources], aqmen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8A"/>
                </a:solidFill>
                <a:latin typeface="Montserrat Medium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585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3045E"/>
                </a:solidFill>
                <a:latin typeface="Montserrat"/>
              </a:rPr>
              <a:t>The TAM is a ~$[XX]B opportunity, led by [Region]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1536192"/>
            <a:ext cx="1554480" cy="219456"/>
          </a:xfrm>
          <a:prstGeom prst="rect">
            <a:avLst/>
          </a:prstGeom>
          <a:noFill/>
          <a:ln w="6350">
            <a:solidFill>
              <a:srgbClr val="8A8A8A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302E2E"/>
                </a:solidFill>
                <a:latin typeface="Montserrat Medium"/>
              </a:rPr>
              <a:t>ILLUSTRATIVE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111858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3045E"/>
                </a:solidFill>
                <a:latin typeface="Montserrat"/>
              </a:rPr>
              <a:t>[Market] TAM by region, [base year] $B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75688"/>
            <a:ext cx="146304" cy="146304"/>
          </a:xfrm>
          <a:prstGeom prst="rect">
            <a:avLst/>
          </a:prstGeom>
          <a:solidFill>
            <a:srgbClr val="D6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2048256"/>
            <a:ext cx="20116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302E2E"/>
                </a:solidFill>
                <a:latin typeface="Montserrat Medium"/>
              </a:rPr>
              <a:t>Whitespace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65376" y="2075688"/>
            <a:ext cx="146304" cy="146304"/>
          </a:xfrm>
          <a:prstGeom prst="rect">
            <a:avLst/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84832" y="2048256"/>
            <a:ext cx="20116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302E2E"/>
                </a:solidFill>
                <a:latin typeface="Montserrat Medium"/>
              </a:rPr>
              <a:t>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0"/>
            <a:ext cx="4270071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53.3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8A8A8A"/>
                </a:solidFill>
                <a:latin typeface="Montserrat Medium"/>
              </a:rPr>
              <a:t>(61%)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743200"/>
            <a:ext cx="4270071" cy="2878043"/>
          </a:xfrm>
          <a:prstGeom prst="rect">
            <a:avLst/>
          </a:prstGeom>
          <a:pattFill prst="ltDnDiag">
            <a:fgClr>
              <a:srgbClr val="6BAED6"/>
            </a:fgClr>
            <a:bgClr>
              <a:srgbClr val="FEFFFF"/>
            </a:bgClr>
          </a:patt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743200"/>
            <a:ext cx="4270071" cy="28780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03045E"/>
                </a:solidFill>
                <a:latin typeface="Montserrat Medium"/>
              </a:rPr>
              <a:t>46.6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621243"/>
            <a:ext cx="4270071" cy="413796"/>
          </a:xfrm>
          <a:prstGeom prst="rect">
            <a:avLst/>
          </a:prstGeom>
          <a:solidFill>
            <a:srgbClr val="03045E"/>
          </a:solid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621243"/>
            <a:ext cx="4270071" cy="4137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EFFFF"/>
                </a:solidFill>
                <a:latin typeface="Montserrat Medium"/>
              </a:rPr>
              <a:t>6.7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080760"/>
            <a:ext cx="42700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[Region A]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82719" y="2286000"/>
            <a:ext cx="16743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20.8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8A8A8A"/>
                </a:solidFill>
                <a:latin typeface="Montserrat Medium"/>
              </a:rPr>
              <a:t>(24%)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82719" y="2743200"/>
            <a:ext cx="1674380" cy="1136395"/>
          </a:xfrm>
          <a:prstGeom prst="rect">
            <a:avLst/>
          </a:prstGeom>
          <a:pattFill prst="ltDnDiag">
            <a:fgClr>
              <a:srgbClr val="6BAED6"/>
            </a:fgClr>
            <a:bgClr>
              <a:srgbClr val="FEFFFF"/>
            </a:bgClr>
          </a:patt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82719" y="2743200"/>
            <a:ext cx="1674380" cy="11363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03045E"/>
                </a:solidFill>
                <a:latin typeface="Montserrat Medium"/>
              </a:rPr>
              <a:t>18.4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82719" y="3879595"/>
            <a:ext cx="1674380" cy="148225"/>
          </a:xfrm>
          <a:prstGeom prst="rect">
            <a:avLst/>
          </a:prstGeom>
          <a:solidFill>
            <a:srgbClr val="03045E"/>
          </a:solid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82719" y="3879595"/>
            <a:ext cx="1674380" cy="1482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EFFFF"/>
                </a:solidFill>
                <a:latin typeface="Montserrat Medium"/>
              </a:rPr>
              <a:t>2.4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82719" y="6080760"/>
            <a:ext cx="16743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[Region B]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6827" y="2286000"/>
            <a:ext cx="1105571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13.8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8A8A8A"/>
                </a:solidFill>
                <a:latin typeface="Montserrat Medium"/>
              </a:rPr>
              <a:t>(16%)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66827" y="2743200"/>
            <a:ext cx="1105571" cy="772007"/>
          </a:xfrm>
          <a:prstGeom prst="rect">
            <a:avLst/>
          </a:prstGeom>
          <a:pattFill prst="ltDnDiag">
            <a:fgClr>
              <a:srgbClr val="6BAED6"/>
            </a:fgClr>
            <a:bgClr>
              <a:srgbClr val="FEFFFF"/>
            </a:bgClr>
          </a:patt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66827" y="2743200"/>
            <a:ext cx="1105571" cy="7720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03045E"/>
                </a:solidFill>
                <a:latin typeface="Montserrat Medium"/>
              </a:rPr>
              <a:t>12.5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66827" y="3515207"/>
            <a:ext cx="1105571" cy="80288"/>
          </a:xfrm>
          <a:prstGeom prst="rect">
            <a:avLst/>
          </a:prstGeom>
          <a:solidFill>
            <a:srgbClr val="03045E"/>
          </a:solid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66827" y="3515207"/>
            <a:ext cx="1105571" cy="802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EFFFF"/>
                </a:solidFill>
                <a:latin typeface="Montserrat Medium"/>
              </a:rPr>
              <a:t>1.3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66827" y="6080760"/>
            <a:ext cx="11055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[Region C]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001000" y="1463040"/>
            <a:ext cx="0" cy="489204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5400000">
            <a:off x="8275320" y="1490472"/>
            <a:ext cx="201168" cy="201168"/>
          </a:xfrm>
          <a:prstGeom prst="triangle">
            <a:avLst/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67928" y="147218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3045E"/>
                </a:solidFill>
                <a:latin typeface="Montserrat"/>
              </a:rPr>
              <a:t>Key Takeaways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1920240"/>
            <a:ext cx="3429000" cy="4434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[Region A] is ~two-thirds of total value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[Region B] is second despite fewer [deals/units]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[Region C] remains underpenetrated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65215" y="1097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Market Sizing:  </a:t>
            </a:r>
            <a:r>
              <a:rPr sz="1050" b="0" i="1">
                <a:solidFill>
                  <a:srgbClr val="03045E"/>
                </a:solidFill>
                <a:latin typeface="Montserrat"/>
              </a:rPr>
              <a:t>Serviceable market by segment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652881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A8A"/>
                </a:solidFill>
                <a:latin typeface="Montserrat Medium"/>
              </a:rPr>
              <a:t>Source: [sources], aqmen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8A"/>
                </a:solidFill>
                <a:latin typeface="Montserrat Medium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585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3045E"/>
                </a:solidFill>
                <a:latin typeface="Montserrat"/>
              </a:rPr>
              <a:t>Within the SAM, [deal size] concentrates value in [Region A]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1536192"/>
            <a:ext cx="1554480" cy="219456"/>
          </a:xfrm>
          <a:prstGeom prst="rect">
            <a:avLst/>
          </a:prstGeom>
          <a:noFill/>
          <a:ln w="6350">
            <a:solidFill>
              <a:srgbClr val="8A8A8A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302E2E"/>
                </a:solidFill>
                <a:latin typeface="Montserrat Medium"/>
              </a:rPr>
              <a:t>ILLUSTRATIVE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111858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3045E"/>
                </a:solidFill>
                <a:latin typeface="Montserrat"/>
              </a:rPr>
              <a:t>[Market] SAM by region × [dimension], [base year] $B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75688"/>
            <a:ext cx="146304" cy="146304"/>
          </a:xfrm>
          <a:prstGeom prst="rect">
            <a:avLst/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2048256"/>
            <a:ext cx="20116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302E2E"/>
                </a:solidFill>
                <a:latin typeface="Montserrat Medium"/>
              </a:rPr>
              <a:t>Small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22476" y="2075688"/>
            <a:ext cx="146304" cy="146304"/>
          </a:xfrm>
          <a:prstGeom prst="rect">
            <a:avLst/>
          </a:prstGeom>
          <a:solidFill>
            <a:srgbClr val="072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41932" y="2048256"/>
            <a:ext cx="20116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302E2E"/>
                </a:solidFill>
                <a:latin typeface="Montserrat Medium"/>
              </a:rPr>
              <a:t>Medium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10612" y="2075688"/>
            <a:ext cx="146304" cy="14630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0068" y="2048256"/>
            <a:ext cx="20116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302E2E"/>
                </a:solidFill>
                <a:latin typeface="Montserrat Medium"/>
              </a:rPr>
              <a:t>Large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30168" y="2075688"/>
            <a:ext cx="146304" cy="146304"/>
          </a:xfrm>
          <a:prstGeom prst="rect">
            <a:avLst/>
          </a:prstGeom>
          <a:solidFill>
            <a:srgbClr val="6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9624" y="2048256"/>
            <a:ext cx="20116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302E2E"/>
                </a:solidFill>
                <a:latin typeface="Montserrat Medium"/>
              </a:rPr>
              <a:t>Mega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286000"/>
            <a:ext cx="454184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6.7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8A8A8A"/>
                </a:solidFill>
                <a:latin typeface="Montserrat Medium"/>
              </a:rPr>
              <a:t>(64%)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743200"/>
            <a:ext cx="4541842" cy="638715"/>
          </a:xfrm>
          <a:prstGeom prst="rect">
            <a:avLst/>
          </a:prstGeom>
          <a:solidFill>
            <a:srgbClr val="03045E"/>
          </a:solid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743200"/>
            <a:ext cx="4541842" cy="6387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EFFFF"/>
                </a:solidFill>
                <a:latin typeface="Montserrat Medium"/>
              </a:rPr>
              <a:t>1.3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381915"/>
            <a:ext cx="4541842" cy="736979"/>
          </a:xfrm>
          <a:prstGeom prst="rect">
            <a:avLst/>
          </a:prstGeom>
          <a:solidFill>
            <a:srgbClr val="0728A3"/>
          </a:solid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381915"/>
            <a:ext cx="4541842" cy="73697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EFFFF"/>
                </a:solidFill>
                <a:latin typeface="Montserrat Medium"/>
              </a:rPr>
              <a:t>1.5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118894"/>
            <a:ext cx="4541842" cy="1130034"/>
          </a:xfrm>
          <a:prstGeom prst="rect">
            <a:avLst/>
          </a:prstGeom>
          <a:solidFill>
            <a:srgbClr val="2E6FD6"/>
          </a:solid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118894"/>
            <a:ext cx="4541842" cy="11300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EFFFF"/>
                </a:solidFill>
                <a:latin typeface="Montserrat Medium"/>
              </a:rPr>
              <a:t>2.3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248928"/>
            <a:ext cx="4541842" cy="786111"/>
          </a:xfrm>
          <a:prstGeom prst="rect">
            <a:avLst/>
          </a:prstGeom>
          <a:solidFill>
            <a:srgbClr val="6BAED6"/>
          </a:solid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248928"/>
            <a:ext cx="4541842" cy="7861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EFFFF"/>
                </a:solidFill>
                <a:latin typeface="Montserrat Medium"/>
              </a:rPr>
              <a:t>1.6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080760"/>
            <a:ext cx="45418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[Region A]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54490" y="2286000"/>
            <a:ext cx="1626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2.4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8A8A8A"/>
                </a:solidFill>
                <a:latin typeface="Montserrat Medium"/>
              </a:rPr>
              <a:t>(23%)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54490" y="2743200"/>
            <a:ext cx="1626928" cy="245659"/>
          </a:xfrm>
          <a:prstGeom prst="rect">
            <a:avLst/>
          </a:prstGeom>
          <a:solidFill>
            <a:srgbClr val="03045E"/>
          </a:solid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54490" y="2743200"/>
            <a:ext cx="1626928" cy="2456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EFFFF"/>
                </a:solidFill>
                <a:latin typeface="Montserrat Medium"/>
              </a:rPr>
              <a:t>0.5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54490" y="2988859"/>
            <a:ext cx="1626928" cy="294791"/>
          </a:xfrm>
          <a:prstGeom prst="rect">
            <a:avLst/>
          </a:prstGeom>
          <a:solidFill>
            <a:srgbClr val="0728A3"/>
          </a:solid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54490" y="2988859"/>
            <a:ext cx="1626928" cy="2947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EFFFF"/>
                </a:solidFill>
                <a:latin typeface="Montserrat Medium"/>
              </a:rPr>
              <a:t>0.6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54490" y="3283650"/>
            <a:ext cx="1626928" cy="343923"/>
          </a:xfrm>
          <a:prstGeom prst="rect">
            <a:avLst/>
          </a:prstGeom>
          <a:solidFill>
            <a:srgbClr val="2E6FD6"/>
          </a:solid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54490" y="3283650"/>
            <a:ext cx="1626928" cy="3439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EFFFF"/>
                </a:solidFill>
                <a:latin typeface="Montserrat Medium"/>
              </a:rPr>
              <a:t>0.7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54490" y="3627573"/>
            <a:ext cx="1626928" cy="294791"/>
          </a:xfrm>
          <a:prstGeom prst="rect">
            <a:avLst/>
          </a:prstGeom>
          <a:solidFill>
            <a:srgbClr val="6BAED6"/>
          </a:solid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54490" y="3627573"/>
            <a:ext cx="1626928" cy="2947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EFFFF"/>
                </a:solidFill>
                <a:latin typeface="Montserrat Medium"/>
              </a:rPr>
              <a:t>0.6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54490" y="6080760"/>
            <a:ext cx="162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[Region B]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91146" y="2286000"/>
            <a:ext cx="88125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1.2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8A8A8A"/>
                </a:solidFill>
                <a:latin typeface="Montserrat Medium"/>
              </a:rPr>
              <a:t>(12%)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91146" y="2743200"/>
            <a:ext cx="881253" cy="196527"/>
          </a:xfrm>
          <a:prstGeom prst="rect">
            <a:avLst/>
          </a:prstGeom>
          <a:solidFill>
            <a:srgbClr val="03045E"/>
          </a:solid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91146" y="2743200"/>
            <a:ext cx="881253" cy="1965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EFFFF"/>
                </a:solidFill>
                <a:latin typeface="Montserrat Medium"/>
              </a:rPr>
              <a:t>0.4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91146" y="2939727"/>
            <a:ext cx="881253" cy="147395"/>
          </a:xfrm>
          <a:prstGeom prst="rect">
            <a:avLst/>
          </a:prstGeom>
          <a:solidFill>
            <a:srgbClr val="0728A3"/>
          </a:solid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1146" y="2939727"/>
            <a:ext cx="881253" cy="1473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EFFFF"/>
                </a:solidFill>
                <a:latin typeface="Montserrat Medium"/>
              </a:rPr>
              <a:t>0.3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91146" y="3087122"/>
            <a:ext cx="881253" cy="147395"/>
          </a:xfrm>
          <a:prstGeom prst="rect">
            <a:avLst/>
          </a:prstGeom>
          <a:solidFill>
            <a:srgbClr val="2E6FD6"/>
          </a:solid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91146" y="3087122"/>
            <a:ext cx="881253" cy="1473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EFFFF"/>
                </a:solidFill>
                <a:latin typeface="Montserrat Medium"/>
              </a:rPr>
              <a:t>0.3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91146" y="3234517"/>
            <a:ext cx="881253" cy="98263"/>
          </a:xfrm>
          <a:prstGeom prst="rect">
            <a:avLst/>
          </a:prstGeom>
          <a:solidFill>
            <a:srgbClr val="6BAED6"/>
          </a:solidFill>
          <a:ln w="12700">
            <a:solidFill>
              <a:srgbClr val="FE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91146" y="3234517"/>
            <a:ext cx="881253" cy="982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EFFFF"/>
                </a:solidFill>
                <a:latin typeface="Montserrat Medium"/>
              </a:rPr>
              <a:t>0.2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91146" y="6080760"/>
            <a:ext cx="8812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[Region C]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001000" y="1463040"/>
            <a:ext cx="0" cy="489204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Isosceles Triangle 47"/>
          <p:cNvSpPr/>
          <p:nvPr/>
        </p:nvSpPr>
        <p:spPr>
          <a:xfrm rot="5400000">
            <a:off x="8275320" y="1490472"/>
            <a:ext cx="201168" cy="201168"/>
          </a:xfrm>
          <a:prstGeom prst="triangle">
            <a:avLst/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67928" y="147218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3045E"/>
                </a:solidFill>
                <a:latin typeface="Montserrat"/>
              </a:rPr>
              <a:t>Key Takeaways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5320" y="1920240"/>
            <a:ext cx="3429000" cy="4434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[Large/Mega] deals drive over half of served value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[Region A] leads every segment; [Region C] is thin in [Mega]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65215" y="1097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Market Sizing:  </a:t>
            </a:r>
            <a:r>
              <a:rPr sz="1050" b="0" i="1">
                <a:solidFill>
                  <a:srgbClr val="03045E"/>
                </a:solidFill>
                <a:latin typeface="Montserrat"/>
              </a:rPr>
              <a:t>Trajectory by region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652881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A8A"/>
                </a:solidFill>
                <a:latin typeface="Montserrat Medium"/>
              </a:rPr>
              <a:t>Source: aqmen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8A"/>
                </a:solidFill>
                <a:latin typeface="Montserrat Medium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585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3045E"/>
                </a:solidFill>
                <a:latin typeface="Montserrat"/>
              </a:rPr>
              <a:t>The market is [recovering / growing] at ~[X]% through [year]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7269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3045E"/>
                </a:solidFill>
                <a:latin typeface="Montserrat"/>
              </a:rPr>
              <a:t>[Market] size by region, $B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2103120"/>
          <a:ext cx="726948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8001000" y="1463040"/>
            <a:ext cx="0" cy="489204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8275320" y="1490472"/>
            <a:ext cx="201168" cy="201168"/>
          </a:xfrm>
          <a:prstGeom prst="triangle">
            <a:avLst/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67928" y="147218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3045E"/>
                </a:solidFill>
                <a:latin typeface="Montserrat"/>
              </a:rPr>
              <a:t>Key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920240"/>
            <a:ext cx="3429000" cy="4434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Trough in [year]; recovery underway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~[X]% CAGR projected through [year], led by [Region A]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65215" y="1097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Market Sizing:  </a:t>
            </a:r>
            <a:r>
              <a:rPr sz="1050" b="0" i="1">
                <a:solidFill>
                  <a:srgbClr val="03045E"/>
                </a:solidFill>
                <a:latin typeface="Montserrat"/>
              </a:rPr>
              <a:t>Segmentation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652881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A8A"/>
                </a:solidFill>
                <a:latin typeface="Montserrat Medium"/>
              </a:rPr>
              <a:t>Source: aqmen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8A"/>
                </a:solidFill>
                <a:latin typeface="Montserrat Medium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585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3045E"/>
                </a:solidFill>
                <a:latin typeface="Montserrat"/>
              </a:rPr>
              <a:t>[Segment A] drives over half of the market by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7269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3045E"/>
                </a:solidFill>
                <a:latin typeface="Montserrat"/>
              </a:rPr>
              <a:t>[Market] by segment, $B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2103120"/>
          <a:ext cx="726948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8001000" y="1463040"/>
            <a:ext cx="0" cy="489204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8275320" y="1490472"/>
            <a:ext cx="201168" cy="201168"/>
          </a:xfrm>
          <a:prstGeom prst="triangle">
            <a:avLst/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67928" y="147218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3045E"/>
                </a:solidFill>
                <a:latin typeface="Montserrat"/>
              </a:rPr>
              <a:t>Key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920240"/>
            <a:ext cx="3429000" cy="4434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Mix skews to [Segment A] in [Region A]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[Segment C] is nascent everywhere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65215" y="1097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Market Sizing:  </a:t>
            </a:r>
            <a:r>
              <a:rPr sz="1050" b="0" i="1">
                <a:solidFill>
                  <a:srgbClr val="03045E"/>
                </a:solidFill>
                <a:latin typeface="Montserrat"/>
              </a:rPr>
              <a:t>Triangulation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652881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A8A"/>
                </a:solidFill>
                <a:latin typeface="Montserrat Medium"/>
              </a:rPr>
              <a:t>Source: aqmen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8A"/>
                </a:solidFill>
                <a:latin typeface="Montserrat Medium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585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3045E"/>
                </a:solidFill>
                <a:latin typeface="Montserrat"/>
              </a:rPr>
              <a:t>Bottom-up and top-down reconcile to within [X]%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7269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3045E"/>
                </a:solidFill>
                <a:latin typeface="Montserrat"/>
              </a:rPr>
              <a:t>Triangulation, $B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2103120"/>
          <a:ext cx="726948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8001000" y="1463040"/>
            <a:ext cx="0" cy="489204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8275320" y="1490472"/>
            <a:ext cx="201168" cy="201168"/>
          </a:xfrm>
          <a:prstGeom prst="triangle">
            <a:avLst/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67928" y="147218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3045E"/>
                </a:solidFill>
                <a:latin typeface="Montserrat"/>
              </a:rPr>
              <a:t>Key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920240"/>
            <a:ext cx="3429000" cy="4434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Two independent methods agree within [X]%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Divergence explained by [reason]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65215" y="1097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Market Sizing:  </a:t>
            </a:r>
            <a:r>
              <a:rPr sz="1050" b="0" i="1">
                <a:solidFill>
                  <a:srgbClr val="03045E"/>
                </a:solidFill>
                <a:latin typeface="Montserrat"/>
              </a:rPr>
              <a:t>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652881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A8A"/>
                </a:solidFill>
                <a:latin typeface="Montserrat Medium"/>
              </a:rPr>
              <a:t>Source: aqmen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8A"/>
                </a:solidFill>
                <a:latin typeface="Montserrat Medium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585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3045E"/>
                </a:solidFill>
                <a:latin typeface="Montserrat"/>
              </a:rPr>
              <a:t>[Driver] moves the answer most — the swing is ~$[X]B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1536192"/>
            <a:ext cx="1554480" cy="219456"/>
          </a:xfrm>
          <a:prstGeom prst="rect">
            <a:avLst/>
          </a:prstGeom>
          <a:noFill/>
          <a:ln w="6350">
            <a:solidFill>
              <a:srgbClr val="8A8A8A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302E2E"/>
                </a:solidFill>
                <a:latin typeface="Montserrat Medium"/>
              </a:rPr>
              <a:t>ILLUSTRATIVE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7269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3045E"/>
                </a:solidFill>
                <a:latin typeface="Montserrat"/>
              </a:rPr>
              <a:t>Sensitivity of TAM to key drivers, $B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02920" y="2103120"/>
          <a:ext cx="726948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10" name="Connector 9"/>
          <p:cNvCxnSpPr/>
          <p:nvPr/>
        </p:nvCxnSpPr>
        <p:spPr>
          <a:xfrm>
            <a:off x="8001000" y="1463040"/>
            <a:ext cx="0" cy="489204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8275320" y="1490472"/>
            <a:ext cx="201168" cy="201168"/>
          </a:xfrm>
          <a:prstGeom prst="triangle">
            <a:avLst/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67928" y="147218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3045E"/>
                </a:solidFill>
                <a:latin typeface="Montserrat"/>
              </a:rPr>
              <a:t>Key Takeaways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920240"/>
            <a:ext cx="3429000" cy="4434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[Driver 1] dominates the range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Prioritise diligence on [Driver 1]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65215" y="1097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Market Sizing:  </a:t>
            </a:r>
            <a:r>
              <a:rPr sz="1050" b="0" i="1">
                <a:solidFill>
                  <a:srgbClr val="03045E"/>
                </a:solidFill>
                <a:latin typeface="Montserrat"/>
              </a:rPr>
              <a:t>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652881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A8A"/>
                </a:solidFill>
                <a:latin typeface="Montserrat Medium"/>
              </a:rPr>
              <a:t>Source: aqmen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8A"/>
                </a:solidFill>
                <a:latin typeface="Montserrat Medium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585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3045E"/>
                </a:solidFill>
                <a:latin typeface="Montserrat"/>
              </a:rPr>
              <a:t>[Scenario]: [one-line thesis] lifts the market to ~$[XX]B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7269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3045E"/>
                </a:solidFill>
                <a:latin typeface="Montserrat"/>
              </a:rPr>
              <a:t>Trend (qualitative thesis)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94560"/>
            <a:ext cx="726948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1" i="0">
                <a:solidFill>
                  <a:srgbClr val="302E2E"/>
                </a:solidFill>
                <a:latin typeface="Montserrat Medium"/>
              </a:rPr>
              <a:t>[Directional thesis in plain words — what changes and why]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Overrides vs Base (quantitative):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    –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[driver] [assumption] → [value] (was [base])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    –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[driver] [assumption] → [value] (was [base])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001000" y="1463040"/>
            <a:ext cx="0" cy="489204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8275320" y="1490472"/>
            <a:ext cx="201168" cy="201168"/>
          </a:xfrm>
          <a:prstGeom prst="triangle">
            <a:avLst/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67928" y="147218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3045E"/>
                </a:solidFill>
                <a:latin typeface="Montserrat"/>
              </a:rPr>
              <a:t>Key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920240"/>
            <a:ext cx="3429000" cy="4434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Thesis stated in words, then the numbers that implement it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Base case shown before this scenario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65215" y="1097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Appendix:  </a:t>
            </a:r>
            <a:r>
              <a:rPr sz="1050" b="0" i="1">
                <a:solidFill>
                  <a:srgbClr val="03045E"/>
                </a:solidFill>
                <a:latin typeface="Montserrat"/>
              </a:rPr>
              <a:t>Sources &amp; confidence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652881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A8A"/>
                </a:solidFill>
                <a:latin typeface="Montserrat Medium"/>
              </a:rPr>
              <a:t>Source: Confidence: 5 primary · 4 credible secondary · 3 triangulated (news cap) · 2 weak · 1 estimate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8A"/>
                </a:solidFill>
                <a:latin typeface="Montserrat Medium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585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3045E"/>
                </a:solidFill>
                <a:latin typeface="Montserrat"/>
              </a:rPr>
              <a:t>Sources &amp; confidence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118585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[Official statistics source]  —  confidence 5/5  —  base-year market value &amp; population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[Analyst database]  —  confidence 4/5  —  growth rates and segment mix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[Company filings]  —  confidence 5/5  —  bottom-up validation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[News / trade press]  —  confidence 3/5  —  directional colour only (news cap 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qmen">
      <a:dk1>
        <a:srgbClr val="020462"/>
      </a:dk1>
      <a:lt1>
        <a:srgbClr val="FEFFFF"/>
      </a:lt1>
      <a:dk2>
        <a:srgbClr val="302E2E"/>
      </a:dk2>
      <a:lt2>
        <a:srgbClr val="ADE8F3"/>
      </a:lt2>
      <a:accent1>
        <a:srgbClr val="03045E"/>
      </a:accent1>
      <a:accent2>
        <a:srgbClr val="ADE8F3"/>
      </a:accent2>
      <a:accent3>
        <a:srgbClr val="0728A3"/>
      </a:accent3>
      <a:accent4>
        <a:srgbClr val="00FF7F"/>
      </a:accent4>
      <a:accent5>
        <a:srgbClr val="2E6FD6"/>
      </a:accent5>
      <a:accent6>
        <a:srgbClr val="302E2E"/>
      </a:accent6>
      <a:hlink>
        <a:srgbClr val="00FF7F"/>
      </a:hlink>
      <a:folHlink>
        <a:srgbClr val="0728A3"/>
      </a:folHlink>
    </a:clrScheme>
    <a:fontScheme name="Aqmen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