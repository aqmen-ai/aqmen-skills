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[Metric]</c:v>
                </c:pt>
              </c:strCache>
            </c:strRef>
          </c:tx>
          <c:spPr>
            <a:solidFill>
              <a:srgbClr val="03045E"/>
            </a:solidFill>
            <a:ln>
              <a:noFill/>
            </a:ln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latin typeface="Montserrat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[Player 4]</c:v>
                </c:pt>
                <c:pt idx="1">
                  <c:v>[Player 3]</c:v>
                </c:pt>
                <c:pt idx="2">
                  <c:v>[Player 2]</c:v>
                </c:pt>
                <c:pt idx="3">
                  <c:v>[Player 1]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71</c:v>
                </c:pt>
                <c:pt idx="3">
                  <c:v>96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Wordmark"/>
          <p:cNvSpPr txBox="1"/>
          <p:nvPr/>
        </p:nvSpPr>
        <p:spPr>
          <a:xfrm>
            <a:off x="365760" y="6455664"/>
            <a:ext cx="1645920" cy="310896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b="1" sz="1500">
                <a:solidFill>
                  <a:srgbClr val="03045E"/>
                </a:solidFill>
                <a:latin typeface="Montserrat"/>
              </a:rPr>
              <a:t>Aqmen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03045E"/>
                </a:solidFill>
                <a:latin typeface="Montserrat"/>
              </a:rPr>
              <a:t>The [Market] 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0728A3"/>
                </a:solidFill>
                <a:latin typeface="Montserrat"/>
              </a:rPr>
              <a:t>Player benchmarking &amp; positioning — Commercial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02E2E"/>
                </a:solidFill>
                <a:latin typeface="Montserrat Medium"/>
              </a:rPr>
              <a:t>Discussion Materials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598932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3045E"/>
                </a:solidFill>
                <a:latin typeface="Montserrat"/>
              </a:rPr>
              <a:t>Aqmen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03045E"/>
                </a:solidFill>
                <a:latin typeface="Montserrat"/>
              </a:rP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023360" y="1901952"/>
            <a:ext cx="4206240" cy="0"/>
          </a:xfrm>
          <a:prstGeom prst="bentConnector3">
            <a:avLst/>
          </a:prstGeom>
          <a:ln w="1270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60520" y="2011680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03045E"/>
                </a:solidFill>
                <a:latin typeface="Montserrat"/>
              </a:rPr>
              <a:t>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487168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03045E"/>
                </a:solidFill>
                <a:latin typeface="Montserrat"/>
              </a:rPr>
              <a:t>Market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2962656"/>
            <a:ext cx="4206240" cy="475488"/>
          </a:xfrm>
          <a:prstGeom prst="rect">
            <a:avLst/>
          </a:prstGeom>
          <a:solidFill>
            <a:srgbClr val="020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2962656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EFFFF"/>
                </a:solidFill>
                <a:latin typeface="Montserrat"/>
              </a:rPr>
              <a:t>Competitive 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438144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03045E"/>
                </a:solidFill>
                <a:latin typeface="Montserrat"/>
              </a:rPr>
              <a:t>Appendix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986784"/>
            <a:ext cx="4206240" cy="0"/>
          </a:xfrm>
          <a:prstGeom prst="bentConnector3">
            <a:avLst/>
          </a:prstGeom>
          <a:ln w="1270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03045E"/>
                </a:solidFill>
                <a:latin typeface="Montserra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2103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673352"/>
            <a:ext cx="8899855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Benchmark the players and locate where [target] can win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Question answered: who competes, on what, and where is the whitespace?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3185160"/>
            <a:ext cx="11185855" cy="0"/>
          </a:xfrm>
          <a:prstGeom prst="bentConnector3">
            <a:avLst/>
          </a:prstGeom>
          <a:ln w="9525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3276600"/>
            <a:ext cx="2103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258312"/>
            <a:ext cx="8899855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[N] players cluster into [M] archetypes: [archetype A], [archetype B], [archetype C]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[Archetype A] leads on [criterion]; [Archetype C] competes on [criterion]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Purchase criteria centre on [expertise / brand / price], shifting by [buyer type]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4770120"/>
            <a:ext cx="11185855" cy="0"/>
          </a:xfrm>
          <a:prstGeom prst="bentConnector3">
            <a:avLst/>
          </a:prstGeom>
          <a:ln w="9525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861560"/>
            <a:ext cx="2103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Implication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843272"/>
            <a:ext cx="8899855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Whitespace in [segment] where no incumbent holds [capability]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[Target] is best positioned on [criterion]; exposed on [criterion]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Player set, tiering &amp;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Company filings, company sites,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We benchmark [N] players grouped into [M] archetypes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Players in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72694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[Archetype A]: [Player 1], [Player 2] — [defining trait]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[Archetype B]: [Player 3], [Player 4] — [defining trait]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[Archetype C]: [Player 5], [Player 6] — [defining trait]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Excluded: [players] — [reason]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Grouping by archetype avoids a misleading flat ranking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Scope covers ~[X]% of market value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Revenue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Company filings, company websites, expert interviews,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Players reconcile bottom-up to a ~$[XX]B market-specific revenue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1536192"/>
            <a:ext cx="1554480" cy="219456"/>
          </a:xfrm>
          <a:prstGeom prst="rect">
            <a:avLst/>
          </a:prstGeom>
          <a:noFill/>
          <a:ln w="6350">
            <a:solidFill>
              <a:srgbClr val="8A8A8A"/>
            </a:solidFill>
          </a:ln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302E2E"/>
                </a:solidFill>
                <a:latin typeface="Montserrat Medium"/>
              </a:rPr>
              <a:t>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Player revenue build — revenue × % addressable = market revenue, $m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57984"/>
            <a:ext cx="2460888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3808" y="2157984"/>
            <a:ext cx="12304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HQ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94252" y="2157984"/>
            <a:ext cx="12304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Employees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4696" y="2157984"/>
            <a:ext cx="134230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Revenue ($m)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998" y="2157984"/>
            <a:ext cx="11185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% to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2744" y="2157984"/>
            <a:ext cx="3666031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Market revenue ($m)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468880"/>
            <a:ext cx="11185855" cy="0"/>
          </a:xfrm>
          <a:prstGeom prst="bentConnector3">
            <a:avLst/>
          </a:prstGeom>
          <a:ln w="1270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2920" y="2523744"/>
            <a:ext cx="11185855" cy="310896"/>
          </a:xfrm>
          <a:prstGeom prst="rect">
            <a:avLst/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2523744"/>
            <a:ext cx="111858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A]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" y="2834640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[Player 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3808" y="2834640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4252" y="2834640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~300k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4968" y="2834640"/>
            <a:ext cx="1342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3,000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7270" y="2834640"/>
            <a:ext cx="125574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15%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2744" y="2926080"/>
            <a:ext cx="2407325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5789" y="2834640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450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145536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57784" y="3145536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[Player 2]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63808" y="3145536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4252" y="3145536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~340k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14968" y="3145536"/>
            <a:ext cx="1342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2,000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7270" y="3145536"/>
            <a:ext cx="125574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10%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2744" y="3236976"/>
            <a:ext cx="1069922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38386" y="3145536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200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3456432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02920" y="3456432"/>
            <a:ext cx="11185855" cy="310896"/>
          </a:xfrm>
          <a:prstGeom prst="rect">
            <a:avLst/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3456432"/>
            <a:ext cx="111858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B]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" y="3767328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[Player 5]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63808" y="3767328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94252" y="3767328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~45k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14968" y="3767328"/>
            <a:ext cx="1342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13,500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57270" y="3767328"/>
            <a:ext cx="125574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2744" y="3858768"/>
            <a:ext cx="2888790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57254" y="3767328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540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4078224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7784" y="4078224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[Player 6]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63808" y="4078224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US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94252" y="4078224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~32k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14968" y="4078224"/>
            <a:ext cx="1342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12,000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57270" y="4078224"/>
            <a:ext cx="125574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3%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22744" y="4169664"/>
            <a:ext cx="1925860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94324" y="4078224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360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4389120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502920" y="4389120"/>
            <a:ext cx="11185855" cy="310896"/>
          </a:xfrm>
          <a:prstGeom prst="rect">
            <a:avLst/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7784" y="4389120"/>
            <a:ext cx="111858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D] — specialised boutiques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7784" y="4700016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[Player 10]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3808" y="4700016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94252" y="4700016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~4k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14968" y="4700016"/>
            <a:ext cx="1342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57270" y="4700016"/>
            <a:ext cx="125574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35%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22744" y="4791456"/>
            <a:ext cx="1685127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53591" y="4700016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315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02920" y="5010912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57784" y="5010912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[Player 12]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63808" y="5010912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UK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94252" y="5010912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~1k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14968" y="5010912"/>
            <a:ext cx="1342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200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57270" y="5010912"/>
            <a:ext cx="125574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60%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022744" y="5102352"/>
            <a:ext cx="641953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10417" y="5010912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120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02920" y="5321808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502920" y="5321808"/>
            <a:ext cx="11185855" cy="310896"/>
          </a:xfrm>
          <a:prstGeom prst="rect">
            <a:avLst/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" y="5321808"/>
            <a:ext cx="1118585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Independent advisors &amp; networks (revenue-only)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7784" y="5632704"/>
            <a:ext cx="24608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02E2E"/>
                </a:solidFill>
                <a:latin typeface="Montserrat Medium"/>
              </a:rPr>
              <a:t>Independent advisors (est.)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63808" y="5632704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n.a.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94252" y="5632704"/>
            <a:ext cx="12304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302E2E"/>
                </a:solidFill>
                <a:latin typeface="Montserrat Medium"/>
              </a:rPr>
              <a:t>n.a.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22744" y="5724144"/>
            <a:ext cx="1604883" cy="128016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73347" y="5632704"/>
            <a:ext cx="822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03045E"/>
                </a:solidFill>
                <a:latin typeface="Montserrat Medium"/>
              </a:rPr>
              <a:t>300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02920" y="5943600"/>
            <a:ext cx="11185855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02920" y="5943600"/>
            <a:ext cx="11185855" cy="0"/>
          </a:xfrm>
          <a:prstGeom prst="bentConnector3">
            <a:avLst/>
          </a:prstGeom>
          <a:ln w="1270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557784" y="5943600"/>
            <a:ext cx="75198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Total addressable — bottom-up market size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22744" y="6025896"/>
            <a:ext cx="2888790" cy="146304"/>
          </a:xfrm>
          <a:prstGeom prst="rect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957254" y="5943600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10,400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Archetype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Company filings, company sites,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Players allocate across [M] archetypes by size and service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1536192"/>
            <a:ext cx="1554480" cy="219456"/>
          </a:xfrm>
          <a:prstGeom prst="rect">
            <a:avLst/>
          </a:prstGeom>
          <a:noFill/>
          <a:ln w="6350">
            <a:solidFill>
              <a:srgbClr val="8A8A8A"/>
            </a:solidFill>
          </a:ln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302E2E"/>
                </a:solidFill>
                <a:latin typeface="Montserrat Medium"/>
              </a:rPr>
              <a:t>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Competitive landscape positioning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5852160"/>
            <a:ext cx="5669280" cy="0"/>
          </a:xfrm>
          <a:prstGeom prst="bentConnector3">
            <a:avLst/>
          </a:prstGeom>
          <a:ln w="1905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920240" y="2103120"/>
            <a:ext cx="0" cy="3749040"/>
          </a:xfrm>
          <a:prstGeom prst="bentConnector3">
            <a:avLst/>
          </a:prstGeom>
          <a:ln w="1905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20240" y="610819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Service focus  (Narrow → Broad)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640080" y="3840480"/>
            <a:ext cx="2743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Company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2160" y="5897880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>Narrow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897880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1680" y="5897880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>Broad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273802"/>
            <a:ext cx="8686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>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36542"/>
            <a:ext cx="8686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99282"/>
            <a:ext cx="8686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>Large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462022"/>
            <a:ext cx="8686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302E2E"/>
                </a:solidFill>
                <a:latin typeface="Montserrat Medium"/>
              </a:rPr>
              <a:t>Ultra-large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8814" y="2103120"/>
            <a:ext cx="1530706" cy="824789"/>
          </a:xfrm>
          <a:prstGeom prst="roundRect">
            <a:avLst>
              <a:gd name="adj" fmla="val 4000"/>
            </a:avLst>
          </a:prstGeom>
          <a:solidFill>
            <a:srgbClr val="D6EEF5"/>
          </a:solidFill>
          <a:ln w="12700">
            <a:solidFill>
              <a:srgbClr val="2E6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4534" y="2139696"/>
            <a:ext cx="143926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A]</a:t>
            </a:r>
          </a:p>
        </p:txBody>
      </p:sp>
      <p:sp>
        <p:nvSpPr>
          <p:cNvPr id="22" name="Oval 21"/>
          <p:cNvSpPr/>
          <p:nvPr/>
        </p:nvSpPr>
        <p:spPr>
          <a:xfrm>
            <a:off x="6296558" y="2582266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76872" y="2244852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0022" y="2432304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60336" y="2694737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67374" y="2011680"/>
            <a:ext cx="237744" cy="237744"/>
          </a:xfrm>
          <a:prstGeom prst="ellipse">
            <a:avLst/>
          </a:prstGeom>
          <a:solidFill>
            <a:srgbClr val="03045E"/>
          </a:solidFill>
          <a:ln w="12700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7374" y="201168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EFFFF"/>
                </a:solidFill>
                <a:latin typeface="Montserrat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5271" y="3040380"/>
            <a:ext cx="1133857" cy="937260"/>
          </a:xfrm>
          <a:prstGeom prst="roundRect">
            <a:avLst>
              <a:gd name="adj" fmla="val 4000"/>
            </a:avLst>
          </a:prstGeom>
          <a:solidFill>
            <a:srgbClr val="D6EEF5"/>
          </a:solidFill>
          <a:ln w="12700">
            <a:solidFill>
              <a:srgbClr val="2E6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1" y="3076956"/>
            <a:ext cx="104241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B]</a:t>
            </a:r>
          </a:p>
        </p:txBody>
      </p:sp>
      <p:sp>
        <p:nvSpPr>
          <p:cNvPr id="30" name="Oval 29"/>
          <p:cNvSpPr/>
          <p:nvPr/>
        </p:nvSpPr>
        <p:spPr>
          <a:xfrm>
            <a:off x="5843015" y="3557016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09944" y="3182112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26480" y="3744468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13831" y="2948940"/>
            <a:ext cx="237744" cy="237744"/>
          </a:xfrm>
          <a:prstGeom prst="ellipse">
            <a:avLst/>
          </a:prstGeom>
          <a:solidFill>
            <a:srgbClr val="03045E"/>
          </a:solidFill>
          <a:ln w="12700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13831" y="29489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EFFFF"/>
                </a:solidFill>
                <a:latin typeface="Montserrat"/>
              </a:rPr>
              <a:t>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65115" y="4090112"/>
            <a:ext cx="1133856" cy="674827"/>
          </a:xfrm>
          <a:prstGeom prst="roundRect">
            <a:avLst>
              <a:gd name="adj" fmla="val 4000"/>
            </a:avLst>
          </a:prstGeom>
          <a:solidFill>
            <a:srgbClr val="D6EEF5"/>
          </a:solidFill>
          <a:ln w="12700">
            <a:solidFill>
              <a:srgbClr val="2E6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10835" y="4126688"/>
            <a:ext cx="10424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C]</a:t>
            </a:r>
          </a:p>
        </p:txBody>
      </p:sp>
      <p:sp>
        <p:nvSpPr>
          <p:cNvPr id="37" name="Oval 36"/>
          <p:cNvSpPr/>
          <p:nvPr/>
        </p:nvSpPr>
        <p:spPr>
          <a:xfrm>
            <a:off x="5502859" y="4531767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069787" y="4231844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173675" y="3998672"/>
            <a:ext cx="237744" cy="237744"/>
          </a:xfrm>
          <a:prstGeom prst="ellipse">
            <a:avLst/>
          </a:prstGeom>
          <a:solidFill>
            <a:srgbClr val="03045E"/>
          </a:solidFill>
          <a:ln w="12700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3675" y="399867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EFFFF"/>
                </a:solidFill>
                <a:latin typeface="Montserrat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70632" y="3415284"/>
            <a:ext cx="2267712" cy="1274674"/>
          </a:xfrm>
          <a:prstGeom prst="roundRect">
            <a:avLst>
              <a:gd name="adj" fmla="val 4000"/>
            </a:avLst>
          </a:prstGeom>
          <a:solidFill>
            <a:srgbClr val="D6EEF5"/>
          </a:solidFill>
          <a:ln w="12700">
            <a:solidFill>
              <a:srgbClr val="2E6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3451860"/>
            <a:ext cx="21762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D]</a:t>
            </a:r>
          </a:p>
        </p:txBody>
      </p:sp>
      <p:sp>
        <p:nvSpPr>
          <p:cNvPr id="43" name="Oval 42"/>
          <p:cNvSpPr/>
          <p:nvPr/>
        </p:nvSpPr>
        <p:spPr>
          <a:xfrm>
            <a:off x="3008376" y="4456786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709160" y="3557016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802075" y="4006901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255617" y="4381805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348532" y="3744468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679192" y="3323844"/>
            <a:ext cx="237744" cy="237744"/>
          </a:xfrm>
          <a:prstGeom prst="ellipse">
            <a:avLst/>
          </a:prstGeom>
          <a:solidFill>
            <a:srgbClr val="03045E"/>
          </a:solidFill>
          <a:ln w="12700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79192" y="332384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EFFFF"/>
                </a:solidFill>
                <a:latin typeface="Montserrat"/>
              </a:rPr>
              <a:t>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884017" y="4914900"/>
            <a:ext cx="1700784" cy="824789"/>
          </a:xfrm>
          <a:prstGeom prst="roundRect">
            <a:avLst>
              <a:gd name="adj" fmla="val 4000"/>
            </a:avLst>
          </a:prstGeom>
          <a:solidFill>
            <a:srgbClr val="D6EEF5"/>
          </a:solidFill>
          <a:ln w="12700">
            <a:solidFill>
              <a:srgbClr val="2E6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29737" y="4951476"/>
            <a:ext cx="1609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03045E"/>
                </a:solidFill>
                <a:latin typeface="Montserrat"/>
              </a:rPr>
              <a:t>[Archetype E]</a:t>
            </a:r>
          </a:p>
        </p:txBody>
      </p:sp>
      <p:sp>
        <p:nvSpPr>
          <p:cNvPr id="52" name="Oval 51"/>
          <p:cNvSpPr/>
          <p:nvPr/>
        </p:nvSpPr>
        <p:spPr>
          <a:xfrm>
            <a:off x="3121761" y="5506517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55617" y="5056632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75304" y="5281575"/>
            <a:ext cx="91440" cy="91440"/>
          </a:xfrm>
          <a:prstGeom prst="ellipse">
            <a:avLst/>
          </a:prstGeom>
          <a:solidFill>
            <a:srgbClr val="03045E"/>
          </a:solidFill>
          <a:ln w="9525">
            <a:solidFill>
              <a:srgbClr val="FE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792577" y="4823460"/>
            <a:ext cx="237744" cy="237744"/>
          </a:xfrm>
          <a:prstGeom prst="ellipse">
            <a:avLst/>
          </a:prstGeom>
          <a:solidFill>
            <a:srgbClr val="03045E"/>
          </a:solidFill>
          <a:ln w="12700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92577" y="48234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EFFFF"/>
                </a:solidFill>
                <a:latin typeface="Montserrat"/>
              </a:rPr>
              <a:t>5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Size and service focus separate the archetypes cleanly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Broad + large players bundle; boutiques win narrow niches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See the revenue build for which players sit in each archetype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Comparison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Players are compared on [K] decision-relevant criteria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[Criterion 1]: [what it measures and why it matters]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[Criterion 2]: [what it measures and why it matters]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[Criterion 3]: [what it measures and why it matters]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Each criterion is scored relative to the strongest player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Criteria are decision-relevant, not decorative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Scores are relative standing, not absolute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Player × criteria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Expert interviews, company materials,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[Archetype A] wins on [criterion]; [Archetype C] on price and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20"/>
            <a:ext cx="219456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Purchase criterion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874520"/>
            <a:ext cx="126873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[Player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6210" y="1874520"/>
            <a:ext cx="126873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[Player 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4940" y="1874520"/>
            <a:ext cx="126873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[Player 3]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3670" y="1874520"/>
            <a:ext cx="1268730" cy="4572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[Player 4]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02920" y="2377440"/>
            <a:ext cx="7269480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2377440"/>
            <a:ext cx="219456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Domain expertise</a:t>
            </a:r>
          </a:p>
        </p:txBody>
      </p:sp>
      <p:sp>
        <p:nvSpPr>
          <p:cNvPr id="14" name="Oval 13"/>
          <p:cNvSpPr/>
          <p:nvPr/>
        </p:nvSpPr>
        <p:spPr>
          <a:xfrm>
            <a:off x="3222117" y="2670048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22117" y="2670048"/>
            <a:ext cx="219456" cy="219456"/>
          </a:xfrm>
          <a:prstGeom prst="ellips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0847" y="2670048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ie 16"/>
          <p:cNvSpPr/>
          <p:nvPr/>
        </p:nvSpPr>
        <p:spPr>
          <a:xfrm>
            <a:off x="4490847" y="2670048"/>
            <a:ext cx="219456" cy="219456"/>
          </a:xfrm>
          <a:prstGeom prst="pie">
            <a:avLst>
              <a:gd name="adj1" fmla="val 27000000"/>
              <a:gd name="adj2" fmla="val 18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59577" y="2670048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ie 18"/>
          <p:cNvSpPr/>
          <p:nvPr/>
        </p:nvSpPr>
        <p:spPr>
          <a:xfrm>
            <a:off x="5759577" y="2670048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28307" y="2670048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ie 20"/>
          <p:cNvSpPr/>
          <p:nvPr/>
        </p:nvSpPr>
        <p:spPr>
          <a:xfrm>
            <a:off x="7028307" y="2670048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502920" y="3182112"/>
            <a:ext cx="7269480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3182112"/>
            <a:ext cx="219456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Brand / reputation</a:t>
            </a:r>
          </a:p>
        </p:txBody>
      </p:sp>
      <p:sp>
        <p:nvSpPr>
          <p:cNvPr id="24" name="Oval 23"/>
          <p:cNvSpPr/>
          <p:nvPr/>
        </p:nvSpPr>
        <p:spPr>
          <a:xfrm>
            <a:off x="3222117" y="3474720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222117" y="3474720"/>
            <a:ext cx="219456" cy="219456"/>
          </a:xfrm>
          <a:prstGeom prst="ellips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90847" y="3474720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ie 26"/>
          <p:cNvSpPr/>
          <p:nvPr/>
        </p:nvSpPr>
        <p:spPr>
          <a:xfrm>
            <a:off x="4490847" y="3474720"/>
            <a:ext cx="219456" cy="219456"/>
          </a:xfrm>
          <a:prstGeom prst="pie">
            <a:avLst>
              <a:gd name="adj1" fmla="val 27000000"/>
              <a:gd name="adj2" fmla="val 18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59577" y="3474720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Pie 28"/>
          <p:cNvSpPr/>
          <p:nvPr/>
        </p:nvSpPr>
        <p:spPr>
          <a:xfrm>
            <a:off x="5759577" y="3474720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28307" y="3474720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ie 30"/>
          <p:cNvSpPr/>
          <p:nvPr/>
        </p:nvSpPr>
        <p:spPr>
          <a:xfrm>
            <a:off x="7028307" y="3474720"/>
            <a:ext cx="219456" cy="219456"/>
          </a:xfrm>
          <a:prstGeom prst="pie">
            <a:avLst>
              <a:gd name="adj1" fmla="val 27000000"/>
              <a:gd name="adj2" fmla="val 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502920" y="3986784"/>
            <a:ext cx="7269480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2920" y="3986784"/>
            <a:ext cx="219456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Price competitiveness</a:t>
            </a:r>
          </a:p>
        </p:txBody>
      </p:sp>
      <p:sp>
        <p:nvSpPr>
          <p:cNvPr id="34" name="Oval 33"/>
          <p:cNvSpPr/>
          <p:nvPr/>
        </p:nvSpPr>
        <p:spPr>
          <a:xfrm>
            <a:off x="3222117" y="4279392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ie 34"/>
          <p:cNvSpPr/>
          <p:nvPr/>
        </p:nvSpPr>
        <p:spPr>
          <a:xfrm>
            <a:off x="3222117" y="4279392"/>
            <a:ext cx="219456" cy="219456"/>
          </a:xfrm>
          <a:prstGeom prst="pie">
            <a:avLst>
              <a:gd name="adj1" fmla="val 27000000"/>
              <a:gd name="adj2" fmla="val 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90847" y="4279392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Pie 36"/>
          <p:cNvSpPr/>
          <p:nvPr/>
        </p:nvSpPr>
        <p:spPr>
          <a:xfrm>
            <a:off x="4490847" y="4279392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759577" y="4279392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ie 38"/>
          <p:cNvSpPr/>
          <p:nvPr/>
        </p:nvSpPr>
        <p:spPr>
          <a:xfrm>
            <a:off x="5759577" y="4279392"/>
            <a:ext cx="219456" cy="219456"/>
          </a:xfrm>
          <a:prstGeom prst="pie">
            <a:avLst>
              <a:gd name="adj1" fmla="val 27000000"/>
              <a:gd name="adj2" fmla="val 18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028307" y="4279392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028307" y="4279392"/>
            <a:ext cx="219456" cy="219456"/>
          </a:xfrm>
          <a:prstGeom prst="ellips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02920" y="4791456"/>
            <a:ext cx="7269480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4791456"/>
            <a:ext cx="219456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Speed / agility</a:t>
            </a:r>
          </a:p>
        </p:txBody>
      </p:sp>
      <p:sp>
        <p:nvSpPr>
          <p:cNvPr id="44" name="Oval 43"/>
          <p:cNvSpPr/>
          <p:nvPr/>
        </p:nvSpPr>
        <p:spPr>
          <a:xfrm>
            <a:off x="3222117" y="5084064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ie 44"/>
          <p:cNvSpPr/>
          <p:nvPr/>
        </p:nvSpPr>
        <p:spPr>
          <a:xfrm>
            <a:off x="3222117" y="5084064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90847" y="5084064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Pie 46"/>
          <p:cNvSpPr/>
          <p:nvPr/>
        </p:nvSpPr>
        <p:spPr>
          <a:xfrm>
            <a:off x="4490847" y="5084064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759577" y="5084064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Pie 48"/>
          <p:cNvSpPr/>
          <p:nvPr/>
        </p:nvSpPr>
        <p:spPr>
          <a:xfrm>
            <a:off x="5759577" y="5084064"/>
            <a:ext cx="219456" cy="219456"/>
          </a:xfrm>
          <a:prstGeom prst="pie">
            <a:avLst>
              <a:gd name="adj1" fmla="val 27000000"/>
              <a:gd name="adj2" fmla="val 18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028307" y="5084064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028307" y="5084064"/>
            <a:ext cx="219456" cy="219456"/>
          </a:xfrm>
          <a:prstGeom prst="ellips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02920" y="5596128"/>
            <a:ext cx="7269480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02920" y="5596128"/>
            <a:ext cx="219456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3045E"/>
                </a:solidFill>
                <a:latin typeface="Montserrat"/>
              </a:rPr>
              <a:t>Breadth of offer</a:t>
            </a:r>
          </a:p>
        </p:txBody>
      </p:sp>
      <p:sp>
        <p:nvSpPr>
          <p:cNvPr id="54" name="Oval 53"/>
          <p:cNvSpPr/>
          <p:nvPr/>
        </p:nvSpPr>
        <p:spPr>
          <a:xfrm>
            <a:off x="3222117" y="5888736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ie 54"/>
          <p:cNvSpPr/>
          <p:nvPr/>
        </p:nvSpPr>
        <p:spPr>
          <a:xfrm>
            <a:off x="3222117" y="5888736"/>
            <a:ext cx="219456" cy="219456"/>
          </a:xfrm>
          <a:prstGeom prst="pie">
            <a:avLst>
              <a:gd name="adj1" fmla="val 27000000"/>
              <a:gd name="adj2" fmla="val 18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490847" y="5888736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490847" y="5888736"/>
            <a:ext cx="219456" cy="219456"/>
          </a:xfrm>
          <a:prstGeom prst="ellips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759577" y="5888736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ie 58"/>
          <p:cNvSpPr/>
          <p:nvPr/>
        </p:nvSpPr>
        <p:spPr>
          <a:xfrm>
            <a:off x="5759577" y="5888736"/>
            <a:ext cx="219456" cy="219456"/>
          </a:xfrm>
          <a:prstGeom prst="pie">
            <a:avLst>
              <a:gd name="adj1" fmla="val 27000000"/>
              <a:gd name="adj2" fmla="val 900000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028307" y="5888736"/>
            <a:ext cx="219456" cy="219456"/>
          </a:xfrm>
          <a:prstGeom prst="ellipse">
            <a:avLst/>
          </a:prstGeom>
          <a:solidFill>
            <a:srgbClr val="FEFFFF"/>
          </a:solidFill>
          <a:ln w="15875">
            <a:solidFill>
              <a:srgbClr val="0304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ie 60"/>
          <p:cNvSpPr/>
          <p:nvPr/>
        </p:nvSpPr>
        <p:spPr>
          <a:xfrm>
            <a:off x="7028307" y="5888736"/>
            <a:ext cx="219456" cy="219456"/>
          </a:xfrm>
          <a:prstGeom prst="pie">
            <a:avLst>
              <a:gd name="adj1" fmla="val 27000000"/>
              <a:gd name="adj2" fmla="val 0"/>
            </a:avLst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02920" y="6400800"/>
            <a:ext cx="7269480" cy="0"/>
          </a:xfrm>
          <a:prstGeom prst="bentConnector3">
            <a:avLst/>
          </a:prstGeom>
          <a:ln w="635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No single player leads on every criterion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Trade-off: expertise/brand vs price/speed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[Target] can differentiate on [criterion]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Quantitative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Company filings,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[Player 1] leads on [measured metric], but [Player 4] is closing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[Metric] by player, [unit]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2103120"/>
          <a:ext cx="72694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[Player 1] ~[X]x [Player 4] on [metric]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Gap narrowing as [dynamic]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Each archetype wins in a distinct part of the 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Archetype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72694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[Archetype A] — strengths: [..]; weak on: [..]; wins in [segment]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[Archetype B] — strengths: [..]; weak on: [..]; wins in [segment]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[Archetype C] — strengths: [..]; weak on: [..]; wins in [segment]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Positioning depends on the segment contested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Head-to-head only within an archetype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Reliability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Coverage is strong on [fields], thin on [fields]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Strong: [fields] — full coverage across players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Moderate: [fields] — partial coverage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Weak: [fields] — [players] revenue-only; do not over-read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Sparse cells are called out, not hidden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Revenue-only players are not treated as fully covered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Watch-out: [field] is sparse for [players] — treat comparisons there as directional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Competitive Landscape: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Whitespace sits in [segment]; [target] is positioned to take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Whitespace: [where no incumbent holds the capability]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Threats: [who could contest it and how]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So-what: [the action the finding implies for the deal]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Clear route to differentiated share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Watch [threat] over the hold period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Appendix: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Sources &amp;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Confidence: 5 primary · 4 credible secondary · 3 triangulated (news cap) · 2 weak · 1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Sources &amp;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85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[Company filings / annual reports]  —  confidence 5/5  —  revenue, share, headcount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[Investor materials / company sites]  —  confidence 4/5  —  positioning &amp; offer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[Analyst / industry sources]  —  confidence 4/5  —  market shares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[Expert interviews]  —  confidence 3/5  —  qualitative benchmarking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qmen">
      <a:dk1>
        <a:srgbClr val="020462"/>
      </a:dk1>
      <a:lt1>
        <a:srgbClr val="FEFFFF"/>
      </a:lt1>
      <a:dk2>
        <a:srgbClr val="302E2E"/>
      </a:dk2>
      <a:lt2>
        <a:srgbClr val="ADE8F3"/>
      </a:lt2>
      <a:accent1>
        <a:srgbClr val="03045E"/>
      </a:accent1>
      <a:accent2>
        <a:srgbClr val="ADE8F3"/>
      </a:accent2>
      <a:accent3>
        <a:srgbClr val="0728A3"/>
      </a:accent3>
      <a:accent4>
        <a:srgbClr val="00FF7F"/>
      </a:accent4>
      <a:accent5>
        <a:srgbClr val="2E6FD6"/>
      </a:accent5>
      <a:accent6>
        <a:srgbClr val="302E2E"/>
      </a:accent6>
      <a:hlink>
        <a:srgbClr val="00FF7F"/>
      </a:hlink>
      <a:folHlink>
        <a:srgbClr val="0728A3"/>
      </a:folHlink>
    </a:clrScheme>
    <a:fontScheme name="Aqmen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