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[Metric]</c:v>
                </c:pt>
              </c:strCache>
            </c:strRef>
          </c:tx>
          <c:spPr>
            <a:solidFill>
              <a:srgbClr val="03045E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latin typeface="Montserrat Medium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[Player 4]</c:v>
                </c:pt>
                <c:pt idx="1">
                  <c:v>[Player 3]</c:v>
                </c:pt>
                <c:pt idx="2">
                  <c:v>[Player 2]</c:v>
                </c:pt>
                <c:pt idx="3">
                  <c:v>[Player 1]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71</c:v>
                </c:pt>
                <c:pt idx="3">
                  <c:v>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2F3F7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9CBD6"/>
            </a:solidFill>
          </a:ln>
        </c:spPr>
        <c:txPr>
          <a:bodyPr/>
          <a:lstStyle/>
          <a:p>
            <a:pPr>
              <a:defRPr sz="900">
                <a:latin typeface="Montserrat Medium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Wordmark"/>
          <p:cNvSpPr txBox="1"/>
          <p:nvPr/>
        </p:nvSpPr>
        <p:spPr>
          <a:xfrm>
            <a:off x="365760" y="6455664"/>
            <a:ext cx="1645920" cy="310896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r>
              <a:rPr b="1" sz="1500">
                <a:solidFill>
                  <a:srgbClr val="03045E"/>
                </a:solidFill>
                <a:latin typeface="Montserrat"/>
              </a:rPr>
              <a:t>Aqmen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03045E"/>
                </a:solidFill>
                <a:latin typeface="Montserrat"/>
              </a:rPr>
              <a:t>The [Market] 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0728A3"/>
                </a:solidFill>
                <a:latin typeface="Montserrat"/>
              </a:rPr>
              <a:t>Player benchmarking &amp; positioning — Commercial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02E2E"/>
                </a:solidFill>
                <a:latin typeface="Montserrat Medium"/>
              </a:rPr>
              <a:t>Discussion Materials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59893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3045E"/>
                </a:solidFill>
                <a:latin typeface="Montserrat"/>
              </a:rPr>
              <a:t>Aqmen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3045E"/>
                </a:solidFill>
                <a:latin typeface="Montserrat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23360" y="1901952"/>
            <a:ext cx="4206240" cy="0"/>
          </a:xfrm>
          <a:prstGeom prst="bentConnector3">
            <a:avLst/>
          </a:prstGeom>
          <a:ln w="12700">
            <a:solidFill>
              <a:srgbClr val="030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60520" y="2011680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3045E"/>
                </a:solidFill>
                <a:latin typeface="Montserrat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487168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3045E"/>
                </a:solidFill>
                <a:latin typeface="Montserrat"/>
              </a:rPr>
              <a:t>Market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2962656"/>
            <a:ext cx="4206240" cy="475488"/>
          </a:xfrm>
          <a:prstGeom prst="rect">
            <a:avLst/>
          </a:prstGeom>
          <a:solidFill>
            <a:srgbClr val="020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2962656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EFFFF"/>
                </a:solidFill>
                <a:latin typeface="Montserrat"/>
              </a:rP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438144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3045E"/>
                </a:solidFill>
                <a:latin typeface="Montserrat"/>
              </a:rPr>
              <a:t>Appendix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3360" y="3986784"/>
            <a:ext cx="4206240" cy="0"/>
          </a:xfrm>
          <a:prstGeom prst="bentConnector3">
            <a:avLst/>
          </a:prstGeom>
          <a:ln w="12700">
            <a:solidFill>
              <a:srgbClr val="0304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3045E"/>
                </a:solidFill>
                <a:latin typeface="Montserrat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103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673352"/>
            <a:ext cx="8899855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Benchmark the players and locate where [target] can win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Question answered: who competes, on what, and where is the whitespace?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185160"/>
            <a:ext cx="11185855" cy="0"/>
          </a:xfrm>
          <a:prstGeom prst="bentConnector3">
            <a:avLst/>
          </a:prstGeom>
          <a:ln w="9525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3276600"/>
            <a:ext cx="2103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3258312"/>
            <a:ext cx="8899855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[N] players cluster into [M] archetypes: [archetype A], [archetype B], [archetype C]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[Archetype A] leads on [criterion]; [Archetype C] competes on [criterion]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Purchase criteria centre on [expertise / brand / price], shifting by [buyer type]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4770120"/>
            <a:ext cx="11185855" cy="0"/>
          </a:xfrm>
          <a:prstGeom prst="bentConnector3">
            <a:avLst/>
          </a:prstGeom>
          <a:ln w="9525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4861560"/>
            <a:ext cx="2103120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Implication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843272"/>
            <a:ext cx="8899855" cy="158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Whitespace in [segment] where no incumbent holds [capability]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050" b="0" i="0">
                <a:solidFill>
                  <a:srgbClr val="302E2E"/>
                </a:solidFill>
                <a:latin typeface="Montserrat Medium"/>
              </a:rPr>
              <a:t>[Target] is best positioned on [criterion]; exposed on [criterion]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Competitive Landscape: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Player set, tiering &amp;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Company filings, company sites,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We benchmark [N] players grouped into [M] archetypes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Players 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72694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[Archetype A]: [Player 1], [Player 2] — [defining trait]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[Archetype B]: [Player 3], [Player 4] — [defining trait]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[Archetype C]: [Player 5], [Player 6] — [defining trait]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Excluded: [players] — [reason]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Grouping by archetype avoids a misleading flat ranking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Scope covers ~[X]% of market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Competitive Landscape: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Comparison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Players are compared on [K] decision-relevant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[Criterion 1]: [what it measures and why it matters]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[Criterion 2]: [what it measures and why it matters]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[Criterion 3]: [what it measures and why it matters]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    –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Each criterion is scored relative to the strongest player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Criteria are decision-relevant, not decorative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Scores are relative standing, not absolute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Competitive Landscape: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Player × criteria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Expert interviews, company materials,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[Archetype A] wins on [criterion]; [Archetype C] on price and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219456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3045E"/>
                </a:solidFill>
                <a:latin typeface="Montserrat"/>
              </a:rPr>
              <a:t>Purchase 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874520"/>
            <a:ext cx="126873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[Player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6210" y="1874520"/>
            <a:ext cx="126873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[Player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4940" y="1874520"/>
            <a:ext cx="126873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[Player 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3670" y="1874520"/>
            <a:ext cx="126873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[Player 4]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2377440"/>
            <a:ext cx="7269480" cy="0"/>
          </a:xfrm>
          <a:prstGeom prst="bentConnector3">
            <a:avLst/>
          </a:prstGeom>
          <a:ln w="635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2377440"/>
            <a:ext cx="21945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3045E"/>
                </a:solidFill>
                <a:latin typeface="Montserrat"/>
              </a:rPr>
              <a:t>Domain expertise</a:t>
            </a:r>
          </a:p>
        </p:txBody>
      </p:sp>
      <p:sp>
        <p:nvSpPr>
          <p:cNvPr id="14" name="Oval 13"/>
          <p:cNvSpPr/>
          <p:nvPr/>
        </p:nvSpPr>
        <p:spPr>
          <a:xfrm>
            <a:off x="3222117" y="2670048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22117" y="2670048"/>
            <a:ext cx="219456" cy="219456"/>
          </a:xfrm>
          <a:prstGeom prst="ellips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0847" y="2670048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4490847" y="2670048"/>
            <a:ext cx="219456" cy="219456"/>
          </a:xfrm>
          <a:prstGeom prst="pie">
            <a:avLst>
              <a:gd name="adj1" fmla="val 27000000"/>
              <a:gd name="adj2" fmla="val 18000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59577" y="2670048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5759577" y="2670048"/>
            <a:ext cx="219456" cy="219456"/>
          </a:xfrm>
          <a:prstGeom prst="pie">
            <a:avLst>
              <a:gd name="adj1" fmla="val 27000000"/>
              <a:gd name="adj2" fmla="val 9000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8307" y="2670048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7028307" y="2670048"/>
            <a:ext cx="219456" cy="219456"/>
          </a:xfrm>
          <a:prstGeom prst="pie">
            <a:avLst>
              <a:gd name="adj1" fmla="val 27000000"/>
              <a:gd name="adj2" fmla="val 9000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02920" y="3182112"/>
            <a:ext cx="7269480" cy="0"/>
          </a:xfrm>
          <a:prstGeom prst="bentConnector3">
            <a:avLst/>
          </a:prstGeom>
          <a:ln w="635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3182112"/>
            <a:ext cx="21945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3045E"/>
                </a:solidFill>
                <a:latin typeface="Montserrat"/>
              </a:rPr>
              <a:t>Brand / reputation</a:t>
            </a:r>
          </a:p>
        </p:txBody>
      </p:sp>
      <p:sp>
        <p:nvSpPr>
          <p:cNvPr id="24" name="Oval 23"/>
          <p:cNvSpPr/>
          <p:nvPr/>
        </p:nvSpPr>
        <p:spPr>
          <a:xfrm>
            <a:off x="3222117" y="3474720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222117" y="3474720"/>
            <a:ext cx="219456" cy="219456"/>
          </a:xfrm>
          <a:prstGeom prst="ellips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90847" y="3474720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ie 26"/>
          <p:cNvSpPr/>
          <p:nvPr/>
        </p:nvSpPr>
        <p:spPr>
          <a:xfrm>
            <a:off x="4490847" y="3474720"/>
            <a:ext cx="219456" cy="219456"/>
          </a:xfrm>
          <a:prstGeom prst="pie">
            <a:avLst>
              <a:gd name="adj1" fmla="val 27000000"/>
              <a:gd name="adj2" fmla="val 18000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59577" y="3474720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ie 28"/>
          <p:cNvSpPr/>
          <p:nvPr/>
        </p:nvSpPr>
        <p:spPr>
          <a:xfrm>
            <a:off x="5759577" y="3474720"/>
            <a:ext cx="219456" cy="219456"/>
          </a:xfrm>
          <a:prstGeom prst="pie">
            <a:avLst>
              <a:gd name="adj1" fmla="val 27000000"/>
              <a:gd name="adj2" fmla="val 9000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28307" y="3474720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ie 30"/>
          <p:cNvSpPr/>
          <p:nvPr/>
        </p:nvSpPr>
        <p:spPr>
          <a:xfrm>
            <a:off x="7028307" y="3474720"/>
            <a:ext cx="219456" cy="219456"/>
          </a:xfrm>
          <a:prstGeom prst="pie">
            <a:avLst>
              <a:gd name="adj1" fmla="val 27000000"/>
              <a:gd name="adj2" fmla="val 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02920" y="3986784"/>
            <a:ext cx="7269480" cy="0"/>
          </a:xfrm>
          <a:prstGeom prst="bentConnector3">
            <a:avLst/>
          </a:prstGeom>
          <a:ln w="635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3986784"/>
            <a:ext cx="21945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3045E"/>
                </a:solidFill>
                <a:latin typeface="Montserrat"/>
              </a:rPr>
              <a:t>Price competitiveness</a:t>
            </a:r>
          </a:p>
        </p:txBody>
      </p:sp>
      <p:sp>
        <p:nvSpPr>
          <p:cNvPr id="34" name="Oval 33"/>
          <p:cNvSpPr/>
          <p:nvPr/>
        </p:nvSpPr>
        <p:spPr>
          <a:xfrm>
            <a:off x="3222117" y="4279392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ie 34"/>
          <p:cNvSpPr/>
          <p:nvPr/>
        </p:nvSpPr>
        <p:spPr>
          <a:xfrm>
            <a:off x="3222117" y="4279392"/>
            <a:ext cx="219456" cy="219456"/>
          </a:xfrm>
          <a:prstGeom prst="pie">
            <a:avLst>
              <a:gd name="adj1" fmla="val 27000000"/>
              <a:gd name="adj2" fmla="val 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90847" y="4279392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ie 36"/>
          <p:cNvSpPr/>
          <p:nvPr/>
        </p:nvSpPr>
        <p:spPr>
          <a:xfrm>
            <a:off x="4490847" y="4279392"/>
            <a:ext cx="219456" cy="219456"/>
          </a:xfrm>
          <a:prstGeom prst="pie">
            <a:avLst>
              <a:gd name="adj1" fmla="val 27000000"/>
              <a:gd name="adj2" fmla="val 9000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759577" y="4279392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ie 38"/>
          <p:cNvSpPr/>
          <p:nvPr/>
        </p:nvSpPr>
        <p:spPr>
          <a:xfrm>
            <a:off x="5759577" y="4279392"/>
            <a:ext cx="219456" cy="219456"/>
          </a:xfrm>
          <a:prstGeom prst="pie">
            <a:avLst>
              <a:gd name="adj1" fmla="val 27000000"/>
              <a:gd name="adj2" fmla="val 18000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28307" y="4279392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028307" y="4279392"/>
            <a:ext cx="219456" cy="219456"/>
          </a:xfrm>
          <a:prstGeom prst="ellips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502920" y="4791456"/>
            <a:ext cx="7269480" cy="0"/>
          </a:xfrm>
          <a:prstGeom prst="bentConnector3">
            <a:avLst/>
          </a:prstGeom>
          <a:ln w="635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4791456"/>
            <a:ext cx="21945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3045E"/>
                </a:solidFill>
                <a:latin typeface="Montserrat"/>
              </a:rPr>
              <a:t>Speed / agility</a:t>
            </a:r>
          </a:p>
        </p:txBody>
      </p:sp>
      <p:sp>
        <p:nvSpPr>
          <p:cNvPr id="44" name="Oval 43"/>
          <p:cNvSpPr/>
          <p:nvPr/>
        </p:nvSpPr>
        <p:spPr>
          <a:xfrm>
            <a:off x="3222117" y="5084064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ie 44"/>
          <p:cNvSpPr/>
          <p:nvPr/>
        </p:nvSpPr>
        <p:spPr>
          <a:xfrm>
            <a:off x="3222117" y="5084064"/>
            <a:ext cx="219456" cy="219456"/>
          </a:xfrm>
          <a:prstGeom prst="pie">
            <a:avLst>
              <a:gd name="adj1" fmla="val 27000000"/>
              <a:gd name="adj2" fmla="val 9000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90847" y="5084064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ie 46"/>
          <p:cNvSpPr/>
          <p:nvPr/>
        </p:nvSpPr>
        <p:spPr>
          <a:xfrm>
            <a:off x="4490847" y="5084064"/>
            <a:ext cx="219456" cy="219456"/>
          </a:xfrm>
          <a:prstGeom prst="pie">
            <a:avLst>
              <a:gd name="adj1" fmla="val 27000000"/>
              <a:gd name="adj2" fmla="val 9000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759577" y="5084064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ie 48"/>
          <p:cNvSpPr/>
          <p:nvPr/>
        </p:nvSpPr>
        <p:spPr>
          <a:xfrm>
            <a:off x="5759577" y="5084064"/>
            <a:ext cx="219456" cy="219456"/>
          </a:xfrm>
          <a:prstGeom prst="pie">
            <a:avLst>
              <a:gd name="adj1" fmla="val 27000000"/>
              <a:gd name="adj2" fmla="val 18000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028307" y="5084064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28307" y="5084064"/>
            <a:ext cx="219456" cy="219456"/>
          </a:xfrm>
          <a:prstGeom prst="ellips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502920" y="5596128"/>
            <a:ext cx="7269480" cy="0"/>
          </a:xfrm>
          <a:prstGeom prst="bentConnector3">
            <a:avLst/>
          </a:prstGeom>
          <a:ln w="635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02920" y="5596128"/>
            <a:ext cx="21945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3045E"/>
                </a:solidFill>
                <a:latin typeface="Montserrat"/>
              </a:rPr>
              <a:t>Breadth of offer</a:t>
            </a:r>
          </a:p>
        </p:txBody>
      </p:sp>
      <p:sp>
        <p:nvSpPr>
          <p:cNvPr id="54" name="Oval 53"/>
          <p:cNvSpPr/>
          <p:nvPr/>
        </p:nvSpPr>
        <p:spPr>
          <a:xfrm>
            <a:off x="3222117" y="5888736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ie 54"/>
          <p:cNvSpPr/>
          <p:nvPr/>
        </p:nvSpPr>
        <p:spPr>
          <a:xfrm>
            <a:off x="3222117" y="5888736"/>
            <a:ext cx="219456" cy="219456"/>
          </a:xfrm>
          <a:prstGeom prst="pie">
            <a:avLst>
              <a:gd name="adj1" fmla="val 27000000"/>
              <a:gd name="adj2" fmla="val 18000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90847" y="5888736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490847" y="5888736"/>
            <a:ext cx="219456" cy="219456"/>
          </a:xfrm>
          <a:prstGeom prst="ellips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59577" y="5888736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ie 58"/>
          <p:cNvSpPr/>
          <p:nvPr/>
        </p:nvSpPr>
        <p:spPr>
          <a:xfrm>
            <a:off x="5759577" y="5888736"/>
            <a:ext cx="219456" cy="219456"/>
          </a:xfrm>
          <a:prstGeom prst="pie">
            <a:avLst>
              <a:gd name="adj1" fmla="val 27000000"/>
              <a:gd name="adj2" fmla="val 900000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028307" y="5888736"/>
            <a:ext cx="219456" cy="219456"/>
          </a:xfrm>
          <a:prstGeom prst="ellipse">
            <a:avLst/>
          </a:prstGeom>
          <a:solidFill>
            <a:srgbClr val="FEFFFF"/>
          </a:solidFill>
          <a:ln w="15875">
            <a:solidFill>
              <a:srgbClr val="030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ie 60"/>
          <p:cNvSpPr/>
          <p:nvPr/>
        </p:nvSpPr>
        <p:spPr>
          <a:xfrm>
            <a:off x="7028307" y="5888736"/>
            <a:ext cx="219456" cy="219456"/>
          </a:xfrm>
          <a:prstGeom prst="pie">
            <a:avLst>
              <a:gd name="adj1" fmla="val 27000000"/>
              <a:gd name="adj2" fmla="val 0"/>
            </a:avLst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502920" y="6400800"/>
            <a:ext cx="7269480" cy="0"/>
          </a:xfrm>
          <a:prstGeom prst="bentConnector3">
            <a:avLst/>
          </a:prstGeom>
          <a:ln w="635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No single player leads on every criterion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Trade-off: expertise/brand vs price/speed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[Target] can differentiate on [criterion]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Competitive Landscape: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Quantitative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Company filings, aqmen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[Player 1] leads on [measured metric], but [Player 4] is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[Metric] by player, [unit]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2103120"/>
          <a:ext cx="726948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[Player 1] ~[X]x [Player 4] on [metric]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Gap narrowing as [dynamic]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Competitive Landscape: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Each archetype wins in a distinct part of the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3045E"/>
                </a:solidFill>
                <a:latin typeface="Montserrat"/>
              </a:rPr>
              <a:t>Archetype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726948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[Archetype A] — strengths: [..]; weak on: [..]; wins in [segment]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[Archetype B] — strengths: [..]; weak on: [..]; wins in [segment]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[Archetype C] — strengths: [..]; weak on: [..]; wins in [segment]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Positioning depends on the segment contested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Head-to-head only within an archetype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Competitive Landscape: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Reliability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Coverage is strong on [fields], thin on [fields]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Strong: [fields] — full coverage across players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Moderate: [fields] — partial coverage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Weak: [fields] — [players] revenue-only; do not over-read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Sparse cells are called out, not hidden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Revenue-only players are not treated as fully covered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Watch-out: [field] is sparse for [players] — treat comparisons there as directional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Competitive Landscape: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aqmen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Whitespace sits in [segment]; [target] is positioned to take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269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Whitespace: [where no incumbent holds the capability]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Threats: [who could contest it and how]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1" i="0">
                <a:solidFill>
                  <a:srgbClr val="302E2E"/>
                </a:solidFill>
                <a:latin typeface="Montserrat Medium"/>
              </a:rPr>
              <a:t>So-what: [the action the finding implies for the deal]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01000" y="1463040"/>
            <a:ext cx="0" cy="4892040"/>
          </a:xfrm>
          <a:prstGeom prst="bentConnector3">
            <a:avLst/>
          </a:prstGeom>
          <a:ln w="12700">
            <a:solidFill>
              <a:srgbClr val="C9C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8275320" y="1490472"/>
            <a:ext cx="201168" cy="201168"/>
          </a:xfrm>
          <a:prstGeom prst="triangle">
            <a:avLst/>
          </a:prstGeom>
          <a:solidFill>
            <a:srgbClr val="030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147218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3045E"/>
                </a:solidFill>
                <a:latin typeface="Montserrat"/>
              </a:rP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342900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Clear route to differentiated share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100" b="0" i="0">
                <a:solidFill>
                  <a:srgbClr val="302E2E"/>
                </a:solidFill>
                <a:latin typeface="Montserrat Medium"/>
              </a:rPr>
              <a:t>Watch [threat] over the hold period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E6FD6"/>
                </a:solidFill>
                <a:latin typeface="Montserrat"/>
              </a:rPr>
              <a:t>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65215" y="10972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3045E"/>
                </a:solidFill>
                <a:latin typeface="Montserrat"/>
              </a:rPr>
              <a:t>Appendix:  </a:t>
            </a:r>
            <a:r>
              <a:rPr sz="1050" b="0" i="1">
                <a:solidFill>
                  <a:srgbClr val="03045E"/>
                </a:solidFill>
                <a:latin typeface="Montserrat"/>
              </a:rPr>
              <a:t>Sources &amp;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652881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A8A"/>
                </a:solidFill>
                <a:latin typeface="Montserrat Medium"/>
              </a:rPr>
              <a:t>Source: Confidence: 5 primary · 4 credible secondary · 3 triangulated (news cap) · 2 weak · 1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8A8A8A"/>
                </a:solidFill>
                <a:latin typeface="Montserrat Medium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858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3045E"/>
                </a:solidFill>
                <a:latin typeface="Montserrat"/>
              </a:rPr>
              <a:t>Sources &amp;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858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[Company filings / annual reports]  —  confidence 5/5  —  revenue, share, headcount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[Investor materials / company sites]  —  confidence 4/5  —  positioning &amp; offer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[Analyst / industry sources]  —  confidence 4/5  —  market shares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3045E"/>
                </a:solidFill>
                <a:latin typeface="Montserrat Medium"/>
              </a:rPr>
              <a:t>•  </a:t>
            </a:r>
            <a:r>
              <a:rPr sz="1200" b="0" i="0">
                <a:solidFill>
                  <a:srgbClr val="302E2E"/>
                </a:solidFill>
                <a:latin typeface="Montserrat Medium"/>
              </a:rPr>
              <a:t>[Expert interviews]  —  confidence 3/5  —  qualitative benchmarking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qmen">
      <a:dk1>
        <a:srgbClr val="020462"/>
      </a:dk1>
      <a:lt1>
        <a:srgbClr val="FEFFFF"/>
      </a:lt1>
      <a:dk2>
        <a:srgbClr val="302E2E"/>
      </a:dk2>
      <a:lt2>
        <a:srgbClr val="ADE8F3"/>
      </a:lt2>
      <a:accent1>
        <a:srgbClr val="03045E"/>
      </a:accent1>
      <a:accent2>
        <a:srgbClr val="ADE8F3"/>
      </a:accent2>
      <a:accent3>
        <a:srgbClr val="0728A3"/>
      </a:accent3>
      <a:accent4>
        <a:srgbClr val="00FF7F"/>
      </a:accent4>
      <a:accent5>
        <a:srgbClr val="2E6FD6"/>
      </a:accent5>
      <a:accent6>
        <a:srgbClr val="302E2E"/>
      </a:accent6>
      <a:hlink>
        <a:srgbClr val="00FF7F"/>
      </a:hlink>
      <a:folHlink>
        <a:srgbClr val="0728A3"/>
      </a:folHlink>
    </a:clrScheme>
    <a:fontScheme name="Aqmen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