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3045E"/>
            </a:solidFill>
            <a:ln>
              <a:noFill/>
            </a:ln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latin typeface="Montserrat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'22</c:v>
                </c:pt>
                <c:pt idx="1">
                  <c:v>'23</c:v>
                </c:pt>
                <c:pt idx="2">
                  <c:v>'24</c:v>
                </c:pt>
                <c:pt idx="3">
                  <c:v>'25E</c:v>
                </c:pt>
                <c:pt idx="4">
                  <c:v>'26E</c:v>
                </c:pt>
                <c:pt idx="5">
                  <c:v>'27E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</c:v>
                </c:pt>
                <c:pt idx="1">
                  <c:v>138</c:v>
                </c:pt>
                <c:pt idx="2">
                  <c:v>151</c:v>
                </c:pt>
                <c:pt idx="3">
                  <c:v>168</c:v>
                </c:pt>
                <c:pt idx="4">
                  <c:v>189</c:v>
                </c:pt>
                <c:pt idx="5">
                  <c:v>212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(pp)</c:v>
                </c:pt>
              </c:strCache>
            </c:strRef>
          </c:tx>
          <c:spPr>
            <a:solidFill>
              <a:srgbClr val="03045E"/>
            </a:solidFill>
            <a:ln>
              <a:noFill/>
            </a:ln>
          </c:spPr>
          <c:dLbls>
            <c:numFmt formatCode="#,##0.0" sourceLinked="0"/>
            <c:txPr>
              <a:bodyPr/>
              <a:lstStyle/>
              <a:p>
                <a:pPr>
                  <a:defRPr sz="900">
                    <a:latin typeface="Montserrat Medium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'24 margin</c:v>
                </c:pt>
                <c:pt idx="1">
                  <c:v>Volume</c:v>
                </c:pt>
                <c:pt idx="2">
                  <c:v>Price/mix</c:v>
                </c:pt>
                <c:pt idx="3">
                  <c:v>Cost</c:v>
                </c:pt>
                <c:pt idx="4">
                  <c:v>'27E margin</c:v>
                </c:pt>
              </c:strCache>
            </c:strRef>
          </c:cat>
          <c:val>
            <c:numRef>
              <c:f>Sheet1!$B$2:$B$6</c:f>
              <c:numCache>
                <c:formatCode>#,##0.0</c:formatCode>
                <c:ptCount val="5"/>
                <c:pt idx="0">
                  <c:v>18.0</c:v>
                </c:pt>
                <c:pt idx="1">
                  <c:v>1.5</c:v>
                </c:pt>
                <c:pt idx="2">
                  <c:v>2.0</c:v>
                </c:pt>
                <c:pt idx="3">
                  <c:v>1.5</c:v>
                </c:pt>
                <c:pt idx="4">
                  <c:v>23.0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2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EV</c:v>
                </c:pt>
              </c:strCache>
            </c:strRef>
          </c:tx>
          <c:spPr>
            <a:solidFill>
              <a:srgbClr val="03045E"/>
            </a:solidFill>
            <a:ln>
              <a:noFill/>
            </a:ln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latin typeface="Montserrat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Low</c:v>
                </c:pt>
                <c:pt idx="1">
                  <c:v>Base</c:v>
                </c:pt>
                <c:pt idx="2">
                  <c:v>High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180</c:v>
                </c:pt>
                <c:pt idx="1">
                  <c:v>210</c:v>
                </c:pt>
                <c:pt idx="2">
                  <c:v>245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03045E"/>
            </a:solidFill>
            <a:ln>
              <a:noFill/>
            </a:ln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latin typeface="Montserrat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Margin ±100bps</c:v>
                </c:pt>
                <c:pt idx="1">
                  <c:v>Growth ±50bps</c:v>
                </c:pt>
                <c:pt idx="2">
                  <c:v>WACC ±50bps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188</c:v>
                </c:pt>
                <c:pt idx="1">
                  <c:v>182</c:v>
                </c:pt>
                <c:pt idx="2">
                  <c:v>176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0728A3"/>
            </a:solidFill>
            <a:ln>
              <a:noFill/>
            </a:ln>
          </c:spPr>
          <c:dLbls>
            <c:numFmt formatCode="#,##0" sourceLinked="0"/>
            <c:txPr>
              <a:bodyPr/>
              <a:lstStyle/>
              <a:p>
                <a:pPr>
                  <a:defRPr sz="900">
                    <a:latin typeface="Montserrat Medium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Margin ±100bps</c:v>
                </c:pt>
                <c:pt idx="1">
                  <c:v>Growth ±50bps</c:v>
                </c:pt>
                <c:pt idx="2">
                  <c:v>WACC ±50bps</c:v>
                </c:pt>
              </c:strCache>
            </c:strRef>
          </c:cat>
          <c:val>
            <c:numRef>
              <c:f>Sheet1!$C$2:$C$4</c:f>
              <c:numCache>
                <c:formatCode>#,##0</c:formatCode>
                <c:ptCount val="3"/>
                <c:pt idx="0">
                  <c:v>232</c:v>
                </c:pt>
                <c:pt idx="1">
                  <c:v>238</c:v>
                </c:pt>
                <c:pt idx="2">
                  <c:v>246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3F7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BD6"/>
            </a:solidFill>
          </a:ln>
        </c:spPr>
        <c:txPr>
          <a:bodyPr/>
          <a:lstStyle/>
          <a:p>
            <a:pPr>
              <a:defRPr sz="900">
                <a:latin typeface="Montserrat Medium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ontserrat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0" name="Wordmark"/>
          <p:cNvSpPr txBox="1"/>
          <p:nvPr/>
        </p:nvSpPr>
        <p:spPr>
          <a:xfrm>
            <a:off x="365760" y="6455664"/>
            <a:ext cx="1645920" cy="310896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b="1" sz="1500">
                <a:solidFill>
                  <a:srgbClr val="03045E"/>
                </a:solidFill>
                <a:latin typeface="Montserrat"/>
              </a:rPr>
              <a:t>Aqmen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E6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03045E"/>
                </a:solidFill>
                <a:latin typeface="Montserrat"/>
              </a:rPr>
              <a:t>[Target] — Company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0728A3"/>
                </a:solidFill>
                <a:latin typeface="Montserrat"/>
              </a:rPr>
              <a:t>Financial baseline, value creation &amp; valuation — CDD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02E2E"/>
                </a:solidFill>
                <a:latin typeface="Montserrat Medium"/>
              </a:rPr>
              <a:t>Discussion Materials  |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598932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03045E"/>
                </a:solidFill>
                <a:latin typeface="Montserrat"/>
              </a:rPr>
              <a:t>Aqmen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03045E"/>
                </a:solidFill>
                <a:latin typeface="Montserrat"/>
              </a:rP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023360" y="1901952"/>
            <a:ext cx="4206240" cy="0"/>
          </a:xfrm>
          <a:prstGeom prst="bentConnector3">
            <a:avLst/>
          </a:prstGeom>
          <a:ln w="1270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60520" y="2011680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03045E"/>
                </a:solidFill>
                <a:latin typeface="Montserra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2487168"/>
            <a:ext cx="4206240" cy="475488"/>
          </a:xfrm>
          <a:prstGeom prst="rect">
            <a:avLst/>
          </a:prstGeom>
          <a:solidFill>
            <a:srgbClr val="0204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2487168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EFFFF"/>
                </a:solidFill>
                <a:latin typeface="Montserrat"/>
              </a:rPr>
              <a:t>Company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962656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03045E"/>
                </a:solidFill>
                <a:latin typeface="Montserrat"/>
              </a:rPr>
              <a:t>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438144"/>
            <a:ext cx="39319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03045E"/>
                </a:solidFill>
                <a:latin typeface="Montserrat"/>
              </a:rPr>
              <a:t>Appendix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986784"/>
            <a:ext cx="4206240" cy="0"/>
          </a:xfrm>
          <a:prstGeom prst="bentConnector3">
            <a:avLst/>
          </a:prstGeom>
          <a:ln w="12700">
            <a:solidFill>
              <a:srgbClr val="0304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11858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03045E"/>
                </a:solidFill>
                <a:latin typeface="Montserrat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2103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673352"/>
            <a:ext cx="8899855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Assess [target]'s financial trajectory and value the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Question answered: what is it worth, and where is the value created?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02920" y="3185160"/>
            <a:ext cx="11185855" cy="0"/>
          </a:xfrm>
          <a:prstGeom prst="bentConnector3">
            <a:avLst/>
          </a:prstGeom>
          <a:ln w="9525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3276600"/>
            <a:ext cx="2103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258312"/>
            <a:ext cx="8899855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Enterprise value of ~$[XX]–[XX]m (base ~$[XX]m) on a [X]-year DCF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Terminal value is ~[XX]% of EV — [flag if it dominates]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WACC of [X]%; implied [X]x [metric]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4770120"/>
            <a:ext cx="11185855" cy="0"/>
          </a:xfrm>
          <a:prstGeom prst="bentConnector3">
            <a:avLst/>
          </a:prstGeom>
          <a:ln w="9525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4861560"/>
            <a:ext cx="2103120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Value creation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843272"/>
            <a:ext cx="8899855" cy="158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Revenue growing ~[X]% with margin expanding ~[XXX]bps by year [Y]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050" b="0" i="0">
                <a:solidFill>
                  <a:srgbClr val="302E2E"/>
                </a:solidFill>
                <a:latin typeface="Montserrat Medium"/>
              </a:rPr>
              <a:t>Key levers: [lever 1], [lever 2] — see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Business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[target] filings, management information,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[Target] is a [what it does]; we model [period] on [basis]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Business &amp;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72694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Business: [products / customers / geographies]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Model: [P&amp;L / DCF] over [historicals] + [forecast years]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Inputs vs computed clearly flagged throughout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Figures directional unless sourced to filings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Scope matches the decision the model informs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Assumptions separated from computed outputs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Revenue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[target] filings,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Revenue grows ~[X]% to ~$[XX]m by [year]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Revenue, $m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2103120"/>
          <a:ext cx="72694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Growth driven by [driver]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Forecast years flagged (E)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Margin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EBITDA margin expands ~[XXX]bps as [driver] scales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1536192"/>
            <a:ext cx="1554480" cy="219456"/>
          </a:xfrm>
          <a:prstGeom prst="rect">
            <a:avLst/>
          </a:prstGeom>
          <a:noFill/>
          <a:ln w="6350">
            <a:solidFill>
              <a:srgbClr val="8A8A8A"/>
            </a:solidFill>
          </a:ln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302E2E"/>
                </a:solidFill>
                <a:latin typeface="Montserrat Medium"/>
              </a:rPr>
              <a:t>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EBITDA margin bridge, % of revenue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2103120"/>
          <a:ext cx="72694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Margin story is [operating leverage / mix]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Downside if [risk] materialises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Operating drivers &amp; KPIs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[target] filings,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The forecast rests on [N] operating levers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[KPI 1]: [assumption] — INPUT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[KPI 2]: [assumption] — INPUT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[KPI 3]: [computed from KPI 1 × KPI 2] — COMPUTED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Sanity check: [ratio] stays within [range]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Inputs (assumptions) marked distinctly from computed figures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Each lever traces to a source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Working capital &amp;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[target] filings, aqmen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Cash conversion is ~[XX]%; working capital is a [use/source]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EBITDA-to-cash conversion ~[XX]% after capex and working capital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Working capital: [DSO / DIO / DPO] dynamics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Watch-out: [seasonality / one-off] in [period]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Cash quality [supports / pressures] the valuation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Working-capital swing modelled explicitly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DCF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Enterprise value of ~$[XX]–[XX]m on the base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DCF enterprise value, $m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02920" y="2103120"/>
          <a:ext cx="72694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Range reflects WACC and terminal-growth spread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Terminal value ~[XX]% of EV (sanity check)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DCF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Value is most sensitive to [WACC / terminal growth / margin]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1536192"/>
            <a:ext cx="1554480" cy="219456"/>
          </a:xfrm>
          <a:prstGeom prst="rect">
            <a:avLst/>
          </a:prstGeom>
          <a:noFill/>
          <a:ln w="6350">
            <a:solidFill>
              <a:srgbClr val="8A8A8A"/>
            </a:solidFill>
          </a:ln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302E2E"/>
                </a:solidFill>
                <a:latin typeface="Montserrat Medium"/>
              </a:rPr>
              <a:t>ILLUSTRATIVE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EV sensitivity, $m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2103120"/>
          <a:ext cx="726948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WACC dominates the range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Terminal assumptions warrant the most diligence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Company Analysis: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aqmen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[Initiative]: [one-line thesis] adds ~$[X]m of 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7269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3045E"/>
                </a:solidFill>
                <a:latin typeface="Montserrat"/>
              </a:rPr>
              <a:t>Initiative (qualitative thesis)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94560"/>
            <a:ext cx="7269480" cy="4160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1" i="0">
                <a:solidFill>
                  <a:srgbClr val="302E2E"/>
                </a:solidFill>
                <a:latin typeface="Montserrat Medium"/>
              </a:rPr>
              <a:t>[Directional thesis in plain words — the value-creation lever]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Overrides vs Base (quantitative):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[driver] [assumption] → [value] (was [base])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    –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[driver] [assumption] → [value] (was [base])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1463040"/>
            <a:ext cx="0" cy="4892040"/>
          </a:xfrm>
          <a:prstGeom prst="bentConnector3">
            <a:avLst/>
          </a:prstGeom>
          <a:ln w="12700">
            <a:solidFill>
              <a:srgbClr val="C9CB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5400000">
            <a:off x="8275320" y="1490472"/>
            <a:ext cx="201168" cy="201168"/>
          </a:xfrm>
          <a:prstGeom prst="triangle">
            <a:avLst/>
          </a:prstGeom>
          <a:solidFill>
            <a:srgbClr val="030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472184"/>
            <a:ext cx="3136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3045E"/>
                </a:solidFill>
                <a:latin typeface="Montserrat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429000" cy="4434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Thesis in words, then the numbers that implement it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100" b="0" i="0">
                <a:solidFill>
                  <a:srgbClr val="302E2E"/>
                </a:solidFill>
                <a:latin typeface="Montserrat Medium"/>
              </a:rPr>
              <a:t>Base case shown before this scenario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914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2E6FD6"/>
                </a:solidFill>
                <a:latin typeface="Montserrat"/>
              </a:rPr>
              <a:t>DRAFT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65215" y="10972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3045E"/>
                </a:solidFill>
                <a:latin typeface="Montserrat"/>
              </a:rPr>
              <a:t>Appendix:  </a:t>
            </a:r>
            <a:r>
              <a:rPr sz="1050" b="0" i="1">
                <a:solidFill>
                  <a:srgbClr val="03045E"/>
                </a:solidFill>
                <a:latin typeface="Montserrat"/>
              </a:rPr>
              <a:t>Sources &amp;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6528816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8A8A8A"/>
                </a:solidFill>
                <a:latin typeface="Montserrat Medium"/>
              </a:rPr>
              <a:t>Source: Confidence: 5 primary · 4 credible secondary · 3 triangulated (news cap) · 2 weak · 1 estimate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51052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8A"/>
                </a:solidFill>
                <a:latin typeface="Montserrat Medium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1118585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3045E"/>
                </a:solidFill>
                <a:latin typeface="Montserrat"/>
              </a:rPr>
              <a:t>Sources &amp;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85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[Target] 10-K / annual report  —  confidence 5/5  —  historical financials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Management information  —  confidence 5/5  —  KPI build &amp; forecast assumptions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[Capital IQ / PitchBook]  —  confidence 4/5  —  comparables &amp; WACC inputs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3045E"/>
                </a:solidFill>
                <a:latin typeface="Montserrat Medium"/>
              </a:rPr>
              <a:t>•  </a:t>
            </a:r>
            <a:r>
              <a:rPr sz="1200" b="0" i="0">
                <a:solidFill>
                  <a:srgbClr val="302E2E"/>
                </a:solidFill>
                <a:latin typeface="Montserrat Medium"/>
              </a:rPr>
              <a:t>[News / trade press]  —  confidence 3/5  —  directional colour only (news cap 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qmen">
      <a:dk1>
        <a:srgbClr val="020462"/>
      </a:dk1>
      <a:lt1>
        <a:srgbClr val="FEFFFF"/>
      </a:lt1>
      <a:dk2>
        <a:srgbClr val="302E2E"/>
      </a:dk2>
      <a:lt2>
        <a:srgbClr val="ADE8F3"/>
      </a:lt2>
      <a:accent1>
        <a:srgbClr val="03045E"/>
      </a:accent1>
      <a:accent2>
        <a:srgbClr val="ADE8F3"/>
      </a:accent2>
      <a:accent3>
        <a:srgbClr val="0728A3"/>
      </a:accent3>
      <a:accent4>
        <a:srgbClr val="00FF7F"/>
      </a:accent4>
      <a:accent5>
        <a:srgbClr val="2E6FD6"/>
      </a:accent5>
      <a:accent6>
        <a:srgbClr val="302E2E"/>
      </a:accent6>
      <a:hlink>
        <a:srgbClr val="00FF7F"/>
      </a:hlink>
      <a:folHlink>
        <a:srgbClr val="0728A3"/>
      </a:folHlink>
    </a:clrScheme>
    <a:fontScheme name="Aqmen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