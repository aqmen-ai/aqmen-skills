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3045E"/>
            </a:solidFill>
            <a:ln>
              <a:noFill/>
            </a:ln>
          </c:spPr>
          <c:dLbls>
            <c:numFmt formatCode="#,##0" sourceLinked="0"/>
            <c:txPr>
              <a:bodyPr/>
              <a:lstStyle/>
              <a:p>
                <a:pPr>
                  <a:defRPr sz="900">
                    <a:latin typeface="Montserrat Medium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'22</c:v>
                </c:pt>
                <c:pt idx="1">
                  <c:v>'23</c:v>
                </c:pt>
                <c:pt idx="2">
                  <c:v>'24</c:v>
                </c:pt>
                <c:pt idx="3">
                  <c:v>'25E</c:v>
                </c:pt>
                <c:pt idx="4">
                  <c:v>'26E</c:v>
                </c:pt>
                <c:pt idx="5">
                  <c:v>'27E</c:v>
                </c:pt>
              </c:strCache>
            </c:strRef>
          </c:cat>
          <c:val>
            <c:numRef>
              <c:f>Sheet1!$B$2:$B$7</c:f>
              <c:numCache>
                <c:formatCode>#,##0</c:formatCode>
                <c:ptCount val="6"/>
                <c:pt idx="0">
                  <c:v>120</c:v>
                </c:pt>
                <c:pt idx="1">
                  <c:v>138</c:v>
                </c:pt>
                <c:pt idx="2">
                  <c:v>151</c:v>
                </c:pt>
                <c:pt idx="3">
                  <c:v>168</c:v>
                </c:pt>
                <c:pt idx="4">
                  <c:v>189</c:v>
                </c:pt>
                <c:pt idx="5">
                  <c:v>212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BD6"/>
            </a:solidFill>
          </a:ln>
        </c:spPr>
        <c:txPr>
          <a:bodyPr/>
          <a:lstStyle/>
          <a:p>
            <a:pPr>
              <a:defRPr sz="900">
                <a:latin typeface="Montserrat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F2F3F7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C9CBD6"/>
            </a:solidFill>
          </a:ln>
        </c:spPr>
        <c:txPr>
          <a:bodyPr/>
          <a:lstStyle/>
          <a:p>
            <a:pPr>
              <a:defRPr sz="900">
                <a:latin typeface="Montserrat Medium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 (pp)</c:v>
                </c:pt>
              </c:strCache>
            </c:strRef>
          </c:tx>
          <c:spPr>
            <a:solidFill>
              <a:srgbClr val="03045E"/>
            </a:solidFill>
            <a:ln>
              <a:noFill/>
            </a:ln>
          </c:spPr>
          <c:dLbls>
            <c:numFmt formatCode="#,##0.0" sourceLinked="0"/>
            <c:txPr>
              <a:bodyPr/>
              <a:lstStyle/>
              <a:p>
                <a:pPr>
                  <a:defRPr sz="900">
                    <a:latin typeface="Montserrat Medium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'24 margin</c:v>
                </c:pt>
                <c:pt idx="1">
                  <c:v>Volume</c:v>
                </c:pt>
                <c:pt idx="2">
                  <c:v>Price/mix</c:v>
                </c:pt>
                <c:pt idx="3">
                  <c:v>Cost</c:v>
                </c:pt>
                <c:pt idx="4">
                  <c:v>'27E margin</c:v>
                </c:pt>
              </c:strCache>
            </c:strRef>
          </c:cat>
          <c:val>
            <c:numRef>
              <c:f>Sheet1!$B$2:$B$6</c:f>
              <c:numCache>
                <c:formatCode>#,##0.0</c:formatCode>
                <c:ptCount val="5"/>
                <c:pt idx="0">
                  <c:v>18.0</c:v>
                </c:pt>
                <c:pt idx="1">
                  <c:v>1.5</c:v>
                </c:pt>
                <c:pt idx="2">
                  <c:v>2.0</c:v>
                </c:pt>
                <c:pt idx="3">
                  <c:v>1.5</c:v>
                </c:pt>
                <c:pt idx="4">
                  <c:v>23.0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BD6"/>
            </a:solidFill>
          </a:ln>
        </c:spPr>
        <c:txPr>
          <a:bodyPr/>
          <a:lstStyle/>
          <a:p>
            <a:pPr>
              <a:defRPr sz="900">
                <a:latin typeface="Montserrat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F2F3F7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C9CBD6"/>
            </a:solidFill>
          </a:ln>
        </c:spPr>
        <c:txPr>
          <a:bodyPr/>
          <a:lstStyle/>
          <a:p>
            <a:pPr>
              <a:defRPr sz="900">
                <a:latin typeface="Montserrat Medium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EV</c:v>
                </c:pt>
              </c:strCache>
            </c:strRef>
          </c:tx>
          <c:spPr>
            <a:solidFill>
              <a:srgbClr val="03045E"/>
            </a:solidFill>
            <a:ln>
              <a:noFill/>
            </a:ln>
          </c:spPr>
          <c:dLbls>
            <c:numFmt formatCode="#,##0" sourceLinked="0"/>
            <c:txPr>
              <a:bodyPr/>
              <a:lstStyle/>
              <a:p>
                <a:pPr>
                  <a:defRPr sz="900">
                    <a:latin typeface="Montserrat Medium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Low</c:v>
                </c:pt>
                <c:pt idx="1">
                  <c:v>Base</c:v>
                </c:pt>
                <c:pt idx="2">
                  <c:v>High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180</c:v>
                </c:pt>
                <c:pt idx="1">
                  <c:v>210</c:v>
                </c:pt>
                <c:pt idx="2">
                  <c:v>245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CBD6"/>
            </a:solidFill>
          </a:ln>
        </c:spPr>
        <c:txPr>
          <a:bodyPr/>
          <a:lstStyle/>
          <a:p>
            <a:pPr>
              <a:defRPr sz="900">
                <a:latin typeface="Montserrat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F2F3F7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C9CBD6"/>
            </a:solidFill>
          </a:ln>
        </c:spPr>
        <c:txPr>
          <a:bodyPr/>
          <a:lstStyle/>
          <a:p>
            <a:pPr>
              <a:defRPr sz="900">
                <a:latin typeface="Montserrat Medium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0" name="Wordmark"/>
          <p:cNvSpPr txBox="1"/>
          <p:nvPr/>
        </p:nvSpPr>
        <p:spPr>
          <a:xfrm>
            <a:off x="365760" y="6455664"/>
            <a:ext cx="1645920" cy="310896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r>
              <a:rPr b="1" sz="1500">
                <a:solidFill>
                  <a:srgbClr val="03045E"/>
                </a:solidFill>
                <a:latin typeface="Montserrat"/>
              </a:rPr>
              <a:t>Aqmen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6FD6"/>
                </a:solidFill>
                <a:latin typeface="Montserrat"/>
              </a:rPr>
              <a:t>DRAFT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800" b="1" i="0">
                <a:solidFill>
                  <a:srgbClr val="03045E"/>
                </a:solidFill>
                <a:latin typeface="Montserrat"/>
              </a:rPr>
              <a:t>[Target] — Company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0728A3"/>
                </a:solidFill>
                <a:latin typeface="Montserrat"/>
              </a:rPr>
              <a:t>Financial baseline, value creation &amp; valuation — CDD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02E2E"/>
                </a:solidFill>
                <a:latin typeface="Montserrat Medium"/>
              </a:rPr>
              <a:t>Discussion Materials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598932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3045E"/>
                </a:solidFill>
                <a:latin typeface="Montserrat"/>
              </a:rPr>
              <a:t>Aqmen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E6FD6"/>
                </a:solidFill>
                <a:latin typeface="Montserrat"/>
              </a:rPr>
              <a:t>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68735" y="65105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8A8A"/>
                </a:solidFill>
                <a:latin typeface="Montserrat Medium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3045E"/>
                </a:solidFill>
                <a:latin typeface="Montserrat"/>
              </a:rPr>
              <a:t>Agenda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023360" y="1901952"/>
            <a:ext cx="4206240" cy="0"/>
          </a:xfrm>
          <a:prstGeom prst="bentConnector3">
            <a:avLst/>
          </a:prstGeom>
          <a:ln w="12700">
            <a:solidFill>
              <a:srgbClr val="0304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160520" y="2011680"/>
            <a:ext cx="3931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03045E"/>
                </a:solidFill>
                <a:latin typeface="Montserrat"/>
              </a:rPr>
              <a:t>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2487168"/>
            <a:ext cx="4206240" cy="475488"/>
          </a:xfrm>
          <a:prstGeom prst="rect">
            <a:avLst/>
          </a:prstGeom>
          <a:solidFill>
            <a:srgbClr val="0204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60520" y="2487168"/>
            <a:ext cx="3931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EFFFF"/>
                </a:solidFill>
                <a:latin typeface="Montserrat"/>
              </a:rPr>
              <a:t>Company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962656"/>
            <a:ext cx="3931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03045E"/>
                </a:solidFill>
                <a:latin typeface="Montserrat"/>
              </a:rPr>
              <a:t>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438144"/>
            <a:ext cx="3931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03045E"/>
                </a:solidFill>
                <a:latin typeface="Montserrat"/>
              </a:rPr>
              <a:t>Appendix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23360" y="3986784"/>
            <a:ext cx="4206240" cy="0"/>
          </a:xfrm>
          <a:prstGeom prst="bentConnector3">
            <a:avLst/>
          </a:prstGeom>
          <a:ln w="12700">
            <a:solidFill>
              <a:srgbClr val="0304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E6FD6"/>
                </a:solidFill>
                <a:latin typeface="Montserrat"/>
              </a:rPr>
              <a:t>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68735" y="65105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8A8A"/>
                </a:solidFill>
                <a:latin typeface="Montserrat Medium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03045E"/>
                </a:solidFill>
                <a:latin typeface="Montserrat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2103120" cy="1584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3045E"/>
                </a:solidFill>
                <a:latin typeface="Montserrat"/>
              </a:rPr>
              <a:t>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8920" y="1673352"/>
            <a:ext cx="8899855" cy="1584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050" b="0" i="0">
                <a:solidFill>
                  <a:srgbClr val="302E2E"/>
                </a:solidFill>
                <a:latin typeface="Montserrat Medium"/>
              </a:rPr>
              <a:t>Assess [target]'s financial trajectory and value the business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050" b="0" i="0">
                <a:solidFill>
                  <a:srgbClr val="302E2E"/>
                </a:solidFill>
                <a:latin typeface="Montserrat Medium"/>
              </a:rPr>
              <a:t>Question answered: what is it worth, and where is the value created?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3185160"/>
            <a:ext cx="11185855" cy="0"/>
          </a:xfrm>
          <a:prstGeom prst="bentConnector3">
            <a:avLst/>
          </a:prstGeom>
          <a:ln w="9525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3276600"/>
            <a:ext cx="2103120" cy="1584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3045E"/>
                </a:solidFill>
                <a:latin typeface="Montserrat"/>
              </a:rPr>
              <a:t>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3258312"/>
            <a:ext cx="8899855" cy="1584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050" b="0" i="0">
                <a:solidFill>
                  <a:srgbClr val="302E2E"/>
                </a:solidFill>
                <a:latin typeface="Montserrat Medium"/>
              </a:rPr>
              <a:t>Enterprise value of ~$[XX]–[XX]m (base ~$[XX]m) on a [X]-year DCF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050" b="0" i="0">
                <a:solidFill>
                  <a:srgbClr val="302E2E"/>
                </a:solidFill>
                <a:latin typeface="Montserrat Medium"/>
              </a:rPr>
              <a:t>Terminal value is ~[XX]% of EV — [flag if it dominates]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050" b="0" i="0">
                <a:solidFill>
                  <a:srgbClr val="302E2E"/>
                </a:solidFill>
                <a:latin typeface="Montserrat Medium"/>
              </a:rPr>
              <a:t>WACC of [X]%; implied [X]x [metric]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4770120"/>
            <a:ext cx="11185855" cy="0"/>
          </a:xfrm>
          <a:prstGeom prst="bentConnector3">
            <a:avLst/>
          </a:prstGeom>
          <a:ln w="9525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4861560"/>
            <a:ext cx="2103120" cy="1584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3045E"/>
                </a:solidFill>
                <a:latin typeface="Montserrat"/>
              </a:rPr>
              <a:t>Value creation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4843272"/>
            <a:ext cx="8899855" cy="1584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050" b="0" i="0">
                <a:solidFill>
                  <a:srgbClr val="302E2E"/>
                </a:solidFill>
                <a:latin typeface="Montserrat Medium"/>
              </a:rPr>
              <a:t>Revenue growing ~[X]% with margin expanding ~[XXX]bps by year [Y]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050" b="0" i="0">
                <a:solidFill>
                  <a:srgbClr val="302E2E"/>
                </a:solidFill>
                <a:latin typeface="Montserrat Medium"/>
              </a:rPr>
              <a:t>Key levers: [lever 1], [lever 2] — see scenarios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E6FD6"/>
                </a:solidFill>
                <a:latin typeface="Montserrat"/>
              </a:rPr>
              <a:t>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65215" y="10972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3045E"/>
                </a:solidFill>
                <a:latin typeface="Montserrat"/>
              </a:rPr>
              <a:t>Company Analysis:  </a:t>
            </a:r>
            <a:r>
              <a:rPr sz="1050" b="0" i="1">
                <a:solidFill>
                  <a:srgbClr val="03045E"/>
                </a:solidFill>
                <a:latin typeface="Montserrat"/>
              </a:rPr>
              <a:t>Business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6528816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A8A"/>
                </a:solidFill>
                <a:latin typeface="Montserrat Medium"/>
              </a:rPr>
              <a:t>Source: [target] filings, management information, aqmen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5105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8A8A"/>
                </a:solidFill>
                <a:latin typeface="Montserrat Medium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8585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03045E"/>
                </a:solidFill>
                <a:latin typeface="Montserrat"/>
              </a:rPr>
              <a:t>[Target] is a [what it does]; we model [period] on [basis]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7269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3045E"/>
                </a:solidFill>
                <a:latin typeface="Montserrat"/>
              </a:rPr>
              <a:t>Business &amp;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94560"/>
            <a:ext cx="726948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200" b="1" i="0">
                <a:solidFill>
                  <a:srgbClr val="302E2E"/>
                </a:solidFill>
                <a:latin typeface="Montserrat Medium"/>
              </a:rPr>
              <a:t>Business: [products / customers / geographies]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200" b="0" i="0">
                <a:solidFill>
                  <a:srgbClr val="302E2E"/>
                </a:solidFill>
                <a:latin typeface="Montserrat Medium"/>
              </a:rPr>
              <a:t>Model: [P&amp;L / DCF] over [historicals] + [forecast years]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    –  </a:t>
            </a:r>
            <a:r>
              <a:rPr sz="1200" b="0" i="0">
                <a:solidFill>
                  <a:srgbClr val="302E2E"/>
                </a:solidFill>
                <a:latin typeface="Montserrat Medium"/>
              </a:rPr>
              <a:t>Inputs vs computed clearly flagged throughout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    –  </a:t>
            </a:r>
            <a:r>
              <a:rPr sz="1200" b="0" i="0">
                <a:solidFill>
                  <a:srgbClr val="302E2E"/>
                </a:solidFill>
                <a:latin typeface="Montserrat Medium"/>
              </a:rPr>
              <a:t>Figures directional unless sourced to filings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001000" y="1463040"/>
            <a:ext cx="0" cy="4892040"/>
          </a:xfrm>
          <a:prstGeom prst="bentConnector3">
            <a:avLst/>
          </a:prstGeom>
          <a:ln w="12700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5400000">
            <a:off x="8275320" y="1490472"/>
            <a:ext cx="201168" cy="201168"/>
          </a:xfrm>
          <a:prstGeom prst="triangle">
            <a:avLst/>
          </a:prstGeom>
          <a:solidFill>
            <a:srgbClr val="030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67928" y="147218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3045E"/>
                </a:solidFill>
                <a:latin typeface="Montserrat"/>
              </a:rPr>
              <a:t>Key Takeaways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920240"/>
            <a:ext cx="3429000" cy="4434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Scope matches the decision the model informs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Assumptions separated from computed outputs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E6FD6"/>
                </a:solidFill>
                <a:latin typeface="Montserrat"/>
              </a:rPr>
              <a:t>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65215" y="10972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3045E"/>
                </a:solidFill>
                <a:latin typeface="Montserrat"/>
              </a:rPr>
              <a:t>Company Analysis:  </a:t>
            </a:r>
            <a:r>
              <a:rPr sz="1050" b="0" i="1">
                <a:solidFill>
                  <a:srgbClr val="03045E"/>
                </a:solidFill>
                <a:latin typeface="Montserrat"/>
              </a:rPr>
              <a:t>Revenue trajectory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6528816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A8A"/>
                </a:solidFill>
                <a:latin typeface="Montserrat Medium"/>
              </a:rPr>
              <a:t>Source: [target] filings, aqmen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5105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8A8A"/>
                </a:solidFill>
                <a:latin typeface="Montserrat Medium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8585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03045E"/>
                </a:solidFill>
                <a:latin typeface="Montserrat"/>
              </a:rPr>
              <a:t>Revenue grows ~[X]% to ~$[XX]m by [year]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7269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3045E"/>
                </a:solidFill>
                <a:latin typeface="Montserrat"/>
              </a:rPr>
              <a:t>Revenue, $m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2103120"/>
          <a:ext cx="726948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9" name="Connector 8"/>
          <p:cNvCxnSpPr/>
          <p:nvPr/>
        </p:nvCxnSpPr>
        <p:spPr>
          <a:xfrm>
            <a:off x="8001000" y="1463040"/>
            <a:ext cx="0" cy="4892040"/>
          </a:xfrm>
          <a:prstGeom prst="bentConnector3">
            <a:avLst/>
          </a:prstGeom>
          <a:ln w="12700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5400000">
            <a:off x="8275320" y="1490472"/>
            <a:ext cx="201168" cy="201168"/>
          </a:xfrm>
          <a:prstGeom prst="triangle">
            <a:avLst/>
          </a:prstGeom>
          <a:solidFill>
            <a:srgbClr val="030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67928" y="147218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3045E"/>
                </a:solidFill>
                <a:latin typeface="Montserrat"/>
              </a:rPr>
              <a:t>Key Takeaways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920240"/>
            <a:ext cx="3429000" cy="4434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Growth driven by [driver]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Forecast years flagged (E)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E6FD6"/>
                </a:solidFill>
                <a:latin typeface="Montserrat"/>
              </a:rPr>
              <a:t>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65215" y="10972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3045E"/>
                </a:solidFill>
                <a:latin typeface="Montserrat"/>
              </a:rPr>
              <a:t>Company Analysis:  </a:t>
            </a:r>
            <a:r>
              <a:rPr sz="1050" b="0" i="1">
                <a:solidFill>
                  <a:srgbClr val="03045E"/>
                </a:solidFill>
                <a:latin typeface="Montserrat"/>
              </a:rPr>
              <a:t>Margin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6528816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A8A"/>
                </a:solidFill>
                <a:latin typeface="Montserrat Medium"/>
              </a:rPr>
              <a:t>Source: aqmen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5105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8A8A"/>
                </a:solidFill>
                <a:latin typeface="Montserrat Medium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8585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03045E"/>
                </a:solidFill>
                <a:latin typeface="Montserrat"/>
              </a:rPr>
              <a:t>EBITDA margin expands ~[XXX]bps as [driver] scales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1536192"/>
            <a:ext cx="1554480" cy="219456"/>
          </a:xfrm>
          <a:prstGeom prst="rect">
            <a:avLst/>
          </a:prstGeom>
          <a:noFill/>
          <a:ln w="6350">
            <a:solidFill>
              <a:srgbClr val="8A8A8A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302E2E"/>
                </a:solidFill>
                <a:latin typeface="Montserrat Medium"/>
              </a:rPr>
              <a:t>ILLUSTRATIVE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7269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3045E"/>
                </a:solidFill>
                <a:latin typeface="Montserrat"/>
              </a:rPr>
              <a:t>EBITDA margin bridge, % of revenue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02920" y="2103120"/>
          <a:ext cx="726948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10" name="Connector 9"/>
          <p:cNvCxnSpPr/>
          <p:nvPr/>
        </p:nvCxnSpPr>
        <p:spPr>
          <a:xfrm>
            <a:off x="8001000" y="1463040"/>
            <a:ext cx="0" cy="4892040"/>
          </a:xfrm>
          <a:prstGeom prst="bentConnector3">
            <a:avLst/>
          </a:prstGeom>
          <a:ln w="12700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8275320" y="1490472"/>
            <a:ext cx="201168" cy="201168"/>
          </a:xfrm>
          <a:prstGeom prst="triangle">
            <a:avLst/>
          </a:prstGeom>
          <a:solidFill>
            <a:srgbClr val="030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67928" y="147218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3045E"/>
                </a:solidFill>
                <a:latin typeface="Montserrat"/>
              </a:rPr>
              <a:t>Key Takeaways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920240"/>
            <a:ext cx="3429000" cy="4434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Margin story is [operating leverage / mix]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Downside if [risk] materialises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E6FD6"/>
                </a:solidFill>
                <a:latin typeface="Montserrat"/>
              </a:rPr>
              <a:t>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65215" y="10972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3045E"/>
                </a:solidFill>
                <a:latin typeface="Montserrat"/>
              </a:rPr>
              <a:t>Company Analysis:  </a:t>
            </a:r>
            <a:r>
              <a:rPr sz="1050" b="0" i="1">
                <a:solidFill>
                  <a:srgbClr val="03045E"/>
                </a:solidFill>
                <a:latin typeface="Montserrat"/>
              </a:rPr>
              <a:t>Operating drivers &amp; KPIs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6528816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A8A"/>
                </a:solidFill>
                <a:latin typeface="Montserrat Medium"/>
              </a:rPr>
              <a:t>Source: [target] filings, aqmen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5105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8A8A"/>
                </a:solidFill>
                <a:latin typeface="Montserrat Medium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8585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03045E"/>
                </a:solidFill>
                <a:latin typeface="Montserrat"/>
              </a:rPr>
              <a:t>The forecast rests on [N] operating levers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72694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200" b="1" i="0">
                <a:solidFill>
                  <a:srgbClr val="302E2E"/>
                </a:solidFill>
                <a:latin typeface="Montserrat Medium"/>
              </a:rPr>
              <a:t>[KPI 1]: [assumption] — INPUT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200" b="1" i="0">
                <a:solidFill>
                  <a:srgbClr val="302E2E"/>
                </a:solidFill>
                <a:latin typeface="Montserrat Medium"/>
              </a:rPr>
              <a:t>[KPI 2]: [assumption] — INPUT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200" b="0" i="0">
                <a:solidFill>
                  <a:srgbClr val="302E2E"/>
                </a:solidFill>
                <a:latin typeface="Montserrat Medium"/>
              </a:rPr>
              <a:t>[KPI 3]: [computed from KPI 1 × KPI 2] — COMPUTED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    –  </a:t>
            </a:r>
            <a:r>
              <a:rPr sz="1200" b="0" i="0">
                <a:solidFill>
                  <a:srgbClr val="302E2E"/>
                </a:solidFill>
                <a:latin typeface="Montserrat Medium"/>
              </a:rPr>
              <a:t>Sanity check: [ratio] stays within [range]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001000" y="1463040"/>
            <a:ext cx="0" cy="4892040"/>
          </a:xfrm>
          <a:prstGeom prst="bentConnector3">
            <a:avLst/>
          </a:prstGeom>
          <a:ln w="12700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5400000">
            <a:off x="8275320" y="1490472"/>
            <a:ext cx="201168" cy="201168"/>
          </a:xfrm>
          <a:prstGeom prst="triangle">
            <a:avLst/>
          </a:prstGeom>
          <a:solidFill>
            <a:srgbClr val="030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67928" y="147218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3045E"/>
                </a:solidFill>
                <a:latin typeface="Montserrat"/>
              </a:rPr>
              <a:t>Key 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1920240"/>
            <a:ext cx="3429000" cy="4434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Inputs (assumptions) marked distinctly from computed figures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Each lever traces to a source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E6FD6"/>
                </a:solidFill>
                <a:latin typeface="Montserrat"/>
              </a:rPr>
              <a:t>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65215" y="10972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3045E"/>
                </a:solidFill>
                <a:latin typeface="Montserrat"/>
              </a:rPr>
              <a:t>Company Analysis:  </a:t>
            </a:r>
            <a:r>
              <a:rPr sz="1050" b="0" i="1">
                <a:solidFill>
                  <a:srgbClr val="03045E"/>
                </a:solidFill>
                <a:latin typeface="Montserrat"/>
              </a:rPr>
              <a:t>Working capital &amp; cash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6528816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A8A"/>
                </a:solidFill>
                <a:latin typeface="Montserrat Medium"/>
              </a:rPr>
              <a:t>Source: [target] filings, aqmen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5105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8A8A"/>
                </a:solidFill>
                <a:latin typeface="Montserrat Medium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8585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03045E"/>
                </a:solidFill>
                <a:latin typeface="Montserrat"/>
              </a:rPr>
              <a:t>Cash conversion is ~[XX]%; working capital is a [use/source]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72694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200" b="1" i="0">
                <a:solidFill>
                  <a:srgbClr val="302E2E"/>
                </a:solidFill>
                <a:latin typeface="Montserrat Medium"/>
              </a:rPr>
              <a:t>EBITDA-to-cash conversion ~[XX]% after capex and working capital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200" b="0" i="0">
                <a:solidFill>
                  <a:srgbClr val="302E2E"/>
                </a:solidFill>
                <a:latin typeface="Montserrat Medium"/>
              </a:rPr>
              <a:t>Working capital: [DSO / DIO / DPO] dynamics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    –  </a:t>
            </a:r>
            <a:r>
              <a:rPr sz="1200" b="0" i="0">
                <a:solidFill>
                  <a:srgbClr val="302E2E"/>
                </a:solidFill>
                <a:latin typeface="Montserrat Medium"/>
              </a:rPr>
              <a:t>Watch-out: [seasonality / one-off] in [period]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001000" y="1463040"/>
            <a:ext cx="0" cy="4892040"/>
          </a:xfrm>
          <a:prstGeom prst="bentConnector3">
            <a:avLst/>
          </a:prstGeom>
          <a:ln w="12700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5400000">
            <a:off x="8275320" y="1490472"/>
            <a:ext cx="201168" cy="201168"/>
          </a:xfrm>
          <a:prstGeom prst="triangle">
            <a:avLst/>
          </a:prstGeom>
          <a:solidFill>
            <a:srgbClr val="030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67928" y="147218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3045E"/>
                </a:solidFill>
                <a:latin typeface="Montserrat"/>
              </a:rPr>
              <a:t>Key 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1920240"/>
            <a:ext cx="3429000" cy="4434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Cash quality [supports / pressures] the valuation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Working-capital swing modelled explicitly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E6FD6"/>
                </a:solidFill>
                <a:latin typeface="Montserrat"/>
              </a:rPr>
              <a:t>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65215" y="10972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3045E"/>
                </a:solidFill>
                <a:latin typeface="Montserrat"/>
              </a:rPr>
              <a:t>Company Analysis:  </a:t>
            </a:r>
            <a:r>
              <a:rPr sz="1050" b="0" i="1">
                <a:solidFill>
                  <a:srgbClr val="03045E"/>
                </a:solidFill>
                <a:latin typeface="Montserrat"/>
              </a:rPr>
              <a:t>Cost of capital (WACC)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6528816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A8A"/>
                </a:solidFill>
                <a:latin typeface="Montserrat Medium"/>
              </a:rPr>
              <a:t>Source: aqmen, market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5105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8A8A"/>
                </a:solidFill>
                <a:latin typeface="Montserrat Medium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8585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03045E"/>
                </a:solidFill>
                <a:latin typeface="Montserrat"/>
              </a:rPr>
              <a:t>WACC is built bottom-up from CAPM and the target capital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111858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3045E"/>
                </a:solidFill>
                <a:latin typeface="Montserrat"/>
              </a:rPr>
              <a:t>WACC — expression &amp; drivers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0895" y="1673352"/>
            <a:ext cx="123444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03045E"/>
                </a:solidFill>
                <a:latin typeface="Montserrat"/>
              </a:rPr>
              <a:t>Certainty:</a:t>
            </a:r>
          </a:p>
        </p:txBody>
      </p:sp>
      <p:sp>
        <p:nvSpPr>
          <p:cNvPr id="9" name="Oval 8"/>
          <p:cNvSpPr/>
          <p:nvPr/>
        </p:nvSpPr>
        <p:spPr>
          <a:xfrm>
            <a:off x="7071055" y="1709928"/>
            <a:ext cx="118872" cy="118872"/>
          </a:xfrm>
          <a:prstGeom prst="ellipse">
            <a:avLst/>
          </a:prstGeom>
          <a:solidFill>
            <a:srgbClr val="9B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35647" y="1673352"/>
            <a:ext cx="77724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302E2E"/>
                </a:solidFill>
                <a:latin typeface="Montserrat Medium"/>
              </a:rPr>
              <a:t>Low</a:t>
            </a:r>
          </a:p>
        </p:txBody>
      </p:sp>
      <p:sp>
        <p:nvSpPr>
          <p:cNvPr id="11" name="Oval 10"/>
          <p:cNvSpPr/>
          <p:nvPr/>
        </p:nvSpPr>
        <p:spPr>
          <a:xfrm>
            <a:off x="8122615" y="1709928"/>
            <a:ext cx="118872" cy="118872"/>
          </a:xfrm>
          <a:prstGeom prst="ellipse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87207" y="1673352"/>
            <a:ext cx="77724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302E2E"/>
                </a:solidFill>
                <a:latin typeface="Montserrat Medium"/>
              </a:rPr>
              <a:t>Medium</a:t>
            </a:r>
          </a:p>
        </p:txBody>
      </p:sp>
      <p:sp>
        <p:nvSpPr>
          <p:cNvPr id="13" name="Oval 12"/>
          <p:cNvSpPr/>
          <p:nvPr/>
        </p:nvSpPr>
        <p:spPr>
          <a:xfrm>
            <a:off x="9174175" y="1709928"/>
            <a:ext cx="118872" cy="118872"/>
          </a:xfrm>
          <a:prstGeom prst="ellipse">
            <a:avLst/>
          </a:prstGeom>
          <a:solidFill>
            <a:srgbClr val="030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38767" y="1673352"/>
            <a:ext cx="77724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302E2E"/>
                </a:solidFill>
                <a:latin typeface="Montserrat Medium"/>
              </a:rPr>
              <a:t>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1901952"/>
            <a:ext cx="342381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1">
                <a:solidFill>
                  <a:srgbClr val="03045E"/>
                </a:solidFill>
                <a:latin typeface="Montserrat"/>
              </a:rPr>
              <a:t>Discount rate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17620"/>
            <a:ext cx="3423818" cy="868680"/>
          </a:xfrm>
          <a:prstGeom prst="roundRect">
            <a:avLst>
              <a:gd name="adj" fmla="val 8000"/>
            </a:avLst>
          </a:prstGeom>
          <a:solidFill>
            <a:srgbClr val="D6EEF5"/>
          </a:solidFill>
          <a:ln w="9525">
            <a:solidFill>
              <a:srgbClr val="2E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" y="3817620"/>
            <a:ext cx="331409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03045E"/>
                </a:solidFill>
                <a:latin typeface="Montserrat"/>
              </a:rPr>
              <a:t>WACC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4229100"/>
            <a:ext cx="331409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1">
                <a:solidFill>
                  <a:srgbClr val="0728A3"/>
                </a:solidFill>
                <a:latin typeface="Montserrat Medium"/>
              </a:rPr>
              <a:t>= wE·Ke + wD·Kd·(1−t)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7784" y="4393692"/>
            <a:ext cx="3314090" cy="274320"/>
          </a:xfrm>
          <a:prstGeom prst="roundRect">
            <a:avLst>
              <a:gd name="adj" fmla="val 12000"/>
            </a:avLst>
          </a:prstGeom>
          <a:solidFill>
            <a:srgbClr val="0204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7784" y="4393692"/>
            <a:ext cx="331409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EFFFF"/>
                </a:solidFill>
                <a:latin typeface="Montserrat Medium"/>
              </a:rPr>
              <a:t>%</a:t>
            </a:r>
          </a:p>
        </p:txBody>
      </p:sp>
      <p:sp>
        <p:nvSpPr>
          <p:cNvPr id="21" name="Oval 20"/>
          <p:cNvSpPr/>
          <p:nvPr/>
        </p:nvSpPr>
        <p:spPr>
          <a:xfrm>
            <a:off x="3771290" y="3863340"/>
            <a:ext cx="109728" cy="109728"/>
          </a:xfrm>
          <a:prstGeom prst="ellipse">
            <a:avLst/>
          </a:prstGeom>
          <a:solidFill>
            <a:srgbClr val="B7791F"/>
          </a:solidFill>
          <a:ln w="9525">
            <a:solidFill>
              <a:srgbClr val="FE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3938" y="1901952"/>
            <a:ext cx="342381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1">
                <a:solidFill>
                  <a:srgbClr val="03045E"/>
                </a:solidFill>
                <a:latin typeface="Montserrat"/>
              </a:rPr>
              <a:t>Components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3938" y="3300984"/>
            <a:ext cx="3423818" cy="868680"/>
          </a:xfrm>
          <a:prstGeom prst="roundRect">
            <a:avLst>
              <a:gd name="adj" fmla="val 8000"/>
            </a:avLst>
          </a:prstGeom>
          <a:solidFill>
            <a:srgbClr val="D6EEF5"/>
          </a:solidFill>
          <a:ln w="9525">
            <a:solidFill>
              <a:srgbClr val="2E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8802" y="3300984"/>
            <a:ext cx="331409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03045E"/>
                </a:solidFill>
                <a:latin typeface="Montserrat"/>
              </a:rPr>
              <a:t>Cost of equity (Ke)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8802" y="3712464"/>
            <a:ext cx="331409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1">
                <a:solidFill>
                  <a:srgbClr val="0728A3"/>
                </a:solidFill>
                <a:latin typeface="Montserrat Medium"/>
              </a:rPr>
              <a:t>= Rf + β × ERP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38802" y="3877056"/>
            <a:ext cx="3314090" cy="274320"/>
          </a:xfrm>
          <a:prstGeom prst="roundRect">
            <a:avLst>
              <a:gd name="adj" fmla="val 12000"/>
            </a:avLst>
          </a:prstGeom>
          <a:solidFill>
            <a:srgbClr val="0204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8802" y="3877056"/>
            <a:ext cx="331409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EFFFF"/>
                </a:solidFill>
                <a:latin typeface="Montserrat Medium"/>
              </a:rPr>
              <a:t>%</a:t>
            </a:r>
          </a:p>
        </p:txBody>
      </p:sp>
      <p:sp>
        <p:nvSpPr>
          <p:cNvPr id="28" name="Oval 27"/>
          <p:cNvSpPr/>
          <p:nvPr/>
        </p:nvSpPr>
        <p:spPr>
          <a:xfrm>
            <a:off x="7652308" y="3346704"/>
            <a:ext cx="109728" cy="109728"/>
          </a:xfrm>
          <a:prstGeom prst="ellipse">
            <a:avLst/>
          </a:prstGeom>
          <a:solidFill>
            <a:srgbClr val="B7791F"/>
          </a:solidFill>
          <a:ln w="9525">
            <a:solidFill>
              <a:srgbClr val="FE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383938" y="4334256"/>
            <a:ext cx="3423818" cy="868680"/>
          </a:xfrm>
          <a:prstGeom prst="roundRect">
            <a:avLst>
              <a:gd name="adj" fmla="val 8000"/>
            </a:avLst>
          </a:prstGeom>
          <a:solidFill>
            <a:srgbClr val="D6EEF5"/>
          </a:solidFill>
          <a:ln w="9525">
            <a:solidFill>
              <a:srgbClr val="2E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38802" y="4334256"/>
            <a:ext cx="331409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03045E"/>
                </a:solidFill>
                <a:latin typeface="Montserrat"/>
              </a:rPr>
              <a:t>After-tax cost of debt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8802" y="4745736"/>
            <a:ext cx="331409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1">
                <a:solidFill>
                  <a:srgbClr val="0728A3"/>
                </a:solidFill>
                <a:latin typeface="Montserrat Medium"/>
              </a:rPr>
              <a:t>= Kd × (1 − tax)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38802" y="4910328"/>
            <a:ext cx="3314090" cy="274320"/>
          </a:xfrm>
          <a:prstGeom prst="roundRect">
            <a:avLst>
              <a:gd name="adj" fmla="val 12000"/>
            </a:avLst>
          </a:prstGeom>
          <a:solidFill>
            <a:srgbClr val="0204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8802" y="4910328"/>
            <a:ext cx="331409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EFFFF"/>
                </a:solidFill>
                <a:latin typeface="Montserrat Medium"/>
              </a:rPr>
              <a:t>%</a:t>
            </a:r>
          </a:p>
        </p:txBody>
      </p:sp>
      <p:sp>
        <p:nvSpPr>
          <p:cNvPr id="34" name="Oval 33"/>
          <p:cNvSpPr/>
          <p:nvPr/>
        </p:nvSpPr>
        <p:spPr>
          <a:xfrm>
            <a:off x="7652308" y="4379976"/>
            <a:ext cx="109728" cy="109728"/>
          </a:xfrm>
          <a:prstGeom prst="ellipse">
            <a:avLst/>
          </a:prstGeom>
          <a:solidFill>
            <a:srgbClr val="B7791F"/>
          </a:solidFill>
          <a:ln w="9525">
            <a:solidFill>
              <a:srgbClr val="FE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64956" y="1901952"/>
            <a:ext cx="342381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1">
                <a:solidFill>
                  <a:srgbClr val="03045E"/>
                </a:solidFill>
                <a:latin typeface="Montserrat"/>
              </a:rPr>
              <a:t>Drivers (leaf assumptions)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64956" y="2286001"/>
            <a:ext cx="3423818" cy="654710"/>
          </a:xfrm>
          <a:prstGeom prst="roundRect">
            <a:avLst>
              <a:gd name="adj" fmla="val 8000"/>
            </a:avLst>
          </a:prstGeom>
          <a:solidFill>
            <a:srgbClr val="D6EEF5"/>
          </a:solidFill>
          <a:ln w="9525">
            <a:solidFill>
              <a:srgbClr val="2E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19820" y="2286001"/>
            <a:ext cx="3314090" cy="4190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03045E"/>
                </a:solidFill>
                <a:latin typeface="Montserrat"/>
              </a:rPr>
              <a:t>Risk-free rate (Rf)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19820" y="2686728"/>
            <a:ext cx="3314090" cy="235695"/>
          </a:xfrm>
          <a:prstGeom prst="roundRect">
            <a:avLst>
              <a:gd name="adj" fmla="val 12000"/>
            </a:avLst>
          </a:prstGeom>
          <a:solidFill>
            <a:srgbClr val="0204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19820" y="2686728"/>
            <a:ext cx="3314090" cy="23569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EFFFF"/>
                </a:solidFill>
                <a:latin typeface="Montserrat Medium"/>
              </a:rPr>
              <a:t>%</a:t>
            </a:r>
          </a:p>
        </p:txBody>
      </p:sp>
      <p:sp>
        <p:nvSpPr>
          <p:cNvPr id="40" name="Oval 39"/>
          <p:cNvSpPr/>
          <p:nvPr/>
        </p:nvSpPr>
        <p:spPr>
          <a:xfrm>
            <a:off x="11533326" y="2331721"/>
            <a:ext cx="109728" cy="109728"/>
          </a:xfrm>
          <a:prstGeom prst="ellipse">
            <a:avLst/>
          </a:prstGeom>
          <a:solidFill>
            <a:srgbClr val="03045E"/>
          </a:solidFill>
          <a:ln w="9525">
            <a:solidFill>
              <a:srgbClr val="FE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264956" y="3105303"/>
            <a:ext cx="3423818" cy="654710"/>
          </a:xfrm>
          <a:prstGeom prst="roundRect">
            <a:avLst>
              <a:gd name="adj" fmla="val 8000"/>
            </a:avLst>
          </a:prstGeom>
          <a:solidFill>
            <a:srgbClr val="D6EEF5"/>
          </a:solidFill>
          <a:ln w="9525">
            <a:solidFill>
              <a:srgbClr val="2E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19820" y="3105303"/>
            <a:ext cx="3314090" cy="4190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03045E"/>
                </a:solidFill>
                <a:latin typeface="Montserrat"/>
              </a:rPr>
              <a:t>Beta (β)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19820" y="3506030"/>
            <a:ext cx="3314090" cy="235695"/>
          </a:xfrm>
          <a:prstGeom prst="roundRect">
            <a:avLst>
              <a:gd name="adj" fmla="val 12000"/>
            </a:avLst>
          </a:prstGeom>
          <a:solidFill>
            <a:srgbClr val="0204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19820" y="3506030"/>
            <a:ext cx="3314090" cy="23569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EFFFF"/>
                </a:solidFill>
                <a:latin typeface="Montserrat Medium"/>
              </a:rPr>
              <a:t>x</a:t>
            </a:r>
          </a:p>
        </p:txBody>
      </p:sp>
      <p:sp>
        <p:nvSpPr>
          <p:cNvPr id="45" name="Oval 44"/>
          <p:cNvSpPr/>
          <p:nvPr/>
        </p:nvSpPr>
        <p:spPr>
          <a:xfrm>
            <a:off x="11533326" y="3151023"/>
            <a:ext cx="109728" cy="109728"/>
          </a:xfrm>
          <a:prstGeom prst="ellipse">
            <a:avLst/>
          </a:prstGeom>
          <a:solidFill>
            <a:srgbClr val="B7791F"/>
          </a:solidFill>
          <a:ln w="9525">
            <a:solidFill>
              <a:srgbClr val="FE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264956" y="3924605"/>
            <a:ext cx="3423818" cy="654710"/>
          </a:xfrm>
          <a:prstGeom prst="roundRect">
            <a:avLst>
              <a:gd name="adj" fmla="val 8000"/>
            </a:avLst>
          </a:prstGeom>
          <a:solidFill>
            <a:srgbClr val="D6EEF5"/>
          </a:solidFill>
          <a:ln w="9525">
            <a:solidFill>
              <a:srgbClr val="2E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19820" y="3924605"/>
            <a:ext cx="3314090" cy="4190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03045E"/>
                </a:solidFill>
                <a:latin typeface="Montserrat"/>
              </a:rPr>
              <a:t>Equity risk premium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19820" y="4325332"/>
            <a:ext cx="3314090" cy="235695"/>
          </a:xfrm>
          <a:prstGeom prst="roundRect">
            <a:avLst>
              <a:gd name="adj" fmla="val 12000"/>
            </a:avLst>
          </a:prstGeom>
          <a:solidFill>
            <a:srgbClr val="0204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19820" y="4325332"/>
            <a:ext cx="3314090" cy="23569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EFFFF"/>
                </a:solidFill>
                <a:latin typeface="Montserrat Medium"/>
              </a:rPr>
              <a:t>%</a:t>
            </a:r>
          </a:p>
        </p:txBody>
      </p:sp>
      <p:sp>
        <p:nvSpPr>
          <p:cNvPr id="50" name="Oval 49"/>
          <p:cNvSpPr/>
          <p:nvPr/>
        </p:nvSpPr>
        <p:spPr>
          <a:xfrm>
            <a:off x="11533326" y="3970325"/>
            <a:ext cx="109728" cy="109728"/>
          </a:xfrm>
          <a:prstGeom prst="ellipse">
            <a:avLst/>
          </a:prstGeom>
          <a:solidFill>
            <a:srgbClr val="B7791F"/>
          </a:solidFill>
          <a:ln w="9525">
            <a:solidFill>
              <a:srgbClr val="FE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264956" y="4743907"/>
            <a:ext cx="3423818" cy="654710"/>
          </a:xfrm>
          <a:prstGeom prst="roundRect">
            <a:avLst>
              <a:gd name="adj" fmla="val 8000"/>
            </a:avLst>
          </a:prstGeom>
          <a:solidFill>
            <a:srgbClr val="D6EEF5"/>
          </a:solidFill>
          <a:ln w="9525">
            <a:solidFill>
              <a:srgbClr val="2E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19820" y="4743907"/>
            <a:ext cx="3314090" cy="4190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03045E"/>
                </a:solidFill>
                <a:latin typeface="Montserrat"/>
              </a:rPr>
              <a:t>Pre-tax cost of debt (Kd)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319820" y="5144634"/>
            <a:ext cx="3314090" cy="235695"/>
          </a:xfrm>
          <a:prstGeom prst="roundRect">
            <a:avLst>
              <a:gd name="adj" fmla="val 12000"/>
            </a:avLst>
          </a:prstGeom>
          <a:solidFill>
            <a:srgbClr val="0204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19820" y="5144634"/>
            <a:ext cx="3314090" cy="23569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EFFFF"/>
                </a:solidFill>
                <a:latin typeface="Montserrat Medium"/>
              </a:rPr>
              <a:t>%</a:t>
            </a:r>
          </a:p>
        </p:txBody>
      </p:sp>
      <p:sp>
        <p:nvSpPr>
          <p:cNvPr id="55" name="Oval 54"/>
          <p:cNvSpPr/>
          <p:nvPr/>
        </p:nvSpPr>
        <p:spPr>
          <a:xfrm>
            <a:off x="11533326" y="4789627"/>
            <a:ext cx="109728" cy="109728"/>
          </a:xfrm>
          <a:prstGeom prst="ellipse">
            <a:avLst/>
          </a:prstGeom>
          <a:solidFill>
            <a:srgbClr val="B7791F"/>
          </a:solidFill>
          <a:ln w="9525">
            <a:solidFill>
              <a:srgbClr val="FE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264956" y="5563209"/>
            <a:ext cx="3423818" cy="654710"/>
          </a:xfrm>
          <a:prstGeom prst="roundRect">
            <a:avLst>
              <a:gd name="adj" fmla="val 8000"/>
            </a:avLst>
          </a:prstGeom>
          <a:solidFill>
            <a:srgbClr val="D6EEF5"/>
          </a:solidFill>
          <a:ln w="9525">
            <a:solidFill>
              <a:srgbClr val="2E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19820" y="5563209"/>
            <a:ext cx="3314090" cy="4190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03045E"/>
                </a:solidFill>
                <a:latin typeface="Montserrat"/>
              </a:rPr>
              <a:t>Tax rate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319820" y="5963936"/>
            <a:ext cx="3314090" cy="235695"/>
          </a:xfrm>
          <a:prstGeom prst="roundRect">
            <a:avLst>
              <a:gd name="adj" fmla="val 12000"/>
            </a:avLst>
          </a:prstGeom>
          <a:solidFill>
            <a:srgbClr val="0204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19820" y="5963936"/>
            <a:ext cx="3314090" cy="23569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EFFFF"/>
                </a:solidFill>
                <a:latin typeface="Montserrat Medium"/>
              </a:rPr>
              <a:t>%</a:t>
            </a:r>
          </a:p>
        </p:txBody>
      </p:sp>
      <p:sp>
        <p:nvSpPr>
          <p:cNvPr id="60" name="Oval 59"/>
          <p:cNvSpPr/>
          <p:nvPr/>
        </p:nvSpPr>
        <p:spPr>
          <a:xfrm>
            <a:off x="11533326" y="5608929"/>
            <a:ext cx="109728" cy="109728"/>
          </a:xfrm>
          <a:prstGeom prst="ellipse">
            <a:avLst/>
          </a:prstGeom>
          <a:solidFill>
            <a:srgbClr val="03045E"/>
          </a:solidFill>
          <a:ln w="9525">
            <a:solidFill>
              <a:srgbClr val="FE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4155338" y="3735324"/>
            <a:ext cx="0" cy="1033272"/>
          </a:xfrm>
          <a:prstGeom prst="bentConnector3">
            <a:avLst/>
          </a:prstGeom>
          <a:ln w="12700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926738" y="4251960"/>
            <a:ext cx="228600" cy="0"/>
          </a:xfrm>
          <a:prstGeom prst="bentConnector3">
            <a:avLst/>
          </a:prstGeom>
          <a:ln w="12700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155338" y="3735324"/>
            <a:ext cx="228600" cy="0"/>
          </a:xfrm>
          <a:prstGeom prst="bentConnector3">
            <a:avLst/>
          </a:prstGeom>
          <a:ln w="12700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4155338" y="4768596"/>
            <a:ext cx="228600" cy="0"/>
          </a:xfrm>
          <a:prstGeom prst="bentConnector3">
            <a:avLst/>
          </a:prstGeom>
          <a:ln w="12700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3903878" y="4114800"/>
            <a:ext cx="274320" cy="274320"/>
          </a:xfrm>
          <a:prstGeom prst="ellipse">
            <a:avLst/>
          </a:prstGeom>
          <a:solidFill>
            <a:srgbClr val="FEFFFF"/>
          </a:solidFill>
          <a:ln w="12700">
            <a:solidFill>
              <a:srgbClr val="030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903878" y="411480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3045E"/>
                </a:solidFill>
                <a:latin typeface="Montserrat"/>
              </a:rPr>
              <a:t>+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8036356" y="2613356"/>
            <a:ext cx="0" cy="1638604"/>
          </a:xfrm>
          <a:prstGeom prst="bentConnector3">
            <a:avLst/>
          </a:prstGeom>
          <a:ln w="12700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7807756" y="3735324"/>
            <a:ext cx="228600" cy="0"/>
          </a:xfrm>
          <a:prstGeom prst="bentConnector3">
            <a:avLst/>
          </a:prstGeom>
          <a:ln w="12700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8036356" y="2613356"/>
            <a:ext cx="228600" cy="0"/>
          </a:xfrm>
          <a:prstGeom prst="bentConnector3">
            <a:avLst/>
          </a:prstGeom>
          <a:ln w="12700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8036356" y="3432658"/>
            <a:ext cx="228600" cy="0"/>
          </a:xfrm>
          <a:prstGeom prst="bentConnector3">
            <a:avLst/>
          </a:prstGeom>
          <a:ln w="12700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8036356" y="4251960"/>
            <a:ext cx="228600" cy="0"/>
          </a:xfrm>
          <a:prstGeom prst="bentConnector3">
            <a:avLst/>
          </a:prstGeom>
          <a:ln w="12700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7784896" y="3598164"/>
            <a:ext cx="274320" cy="274320"/>
          </a:xfrm>
          <a:prstGeom prst="ellipse">
            <a:avLst/>
          </a:prstGeom>
          <a:solidFill>
            <a:srgbClr val="FEFFFF"/>
          </a:solidFill>
          <a:ln w="12700">
            <a:solidFill>
              <a:srgbClr val="030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784896" y="359816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3045E"/>
                </a:solidFill>
                <a:latin typeface="Montserrat"/>
              </a:rPr>
              <a:t>+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8036356" y="4768596"/>
            <a:ext cx="0" cy="1121968"/>
          </a:xfrm>
          <a:prstGeom prst="bentConnector3">
            <a:avLst/>
          </a:prstGeom>
          <a:ln w="12700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807756" y="4768596"/>
            <a:ext cx="228600" cy="0"/>
          </a:xfrm>
          <a:prstGeom prst="bentConnector3">
            <a:avLst/>
          </a:prstGeom>
          <a:ln w="12700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8036356" y="5071262"/>
            <a:ext cx="228600" cy="0"/>
          </a:xfrm>
          <a:prstGeom prst="bentConnector3">
            <a:avLst/>
          </a:prstGeom>
          <a:ln w="12700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8036356" y="5890564"/>
            <a:ext cx="228600" cy="0"/>
          </a:xfrm>
          <a:prstGeom prst="bentConnector3">
            <a:avLst/>
          </a:prstGeom>
          <a:ln w="12700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Oval 77"/>
          <p:cNvSpPr/>
          <p:nvPr/>
        </p:nvSpPr>
        <p:spPr>
          <a:xfrm>
            <a:off x="7784896" y="4631436"/>
            <a:ext cx="274320" cy="274320"/>
          </a:xfrm>
          <a:prstGeom prst="ellipse">
            <a:avLst/>
          </a:prstGeom>
          <a:solidFill>
            <a:srgbClr val="FEFFFF"/>
          </a:solidFill>
          <a:ln w="12700">
            <a:solidFill>
              <a:srgbClr val="030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784896" y="463143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3045E"/>
                </a:solidFill>
                <a:latin typeface="Montserrat"/>
              </a:rPr>
              <a:t>×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02920" y="6336792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3045E"/>
                </a:solidFill>
                <a:latin typeface="Montserrat Medium"/>
              </a:rPr>
              <a:t>▸ </a:t>
            </a:r>
            <a:r>
              <a:rPr sz="900" b="0" i="1">
                <a:solidFill>
                  <a:srgbClr val="8A8A8A"/>
                </a:solidFill>
                <a:latin typeface="Montserrat Medium"/>
              </a:rPr>
              <a:t>WACC discounts unlevered free cash flow (FCFF); weights reflect the target capital structure (equity vs debt).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E6FD6"/>
                </a:solidFill>
                <a:latin typeface="Montserrat"/>
              </a:rPr>
              <a:t>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65215" y="10972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3045E"/>
                </a:solidFill>
                <a:latin typeface="Montserrat"/>
              </a:rPr>
              <a:t>Company Analysis:  </a:t>
            </a:r>
            <a:r>
              <a:rPr sz="1050" b="0" i="1">
                <a:solidFill>
                  <a:srgbClr val="03045E"/>
                </a:solidFill>
                <a:latin typeface="Montserrat"/>
              </a:rPr>
              <a:t>DCF 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6528816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A8A"/>
                </a:solidFill>
                <a:latin typeface="Montserrat Medium"/>
              </a:rPr>
              <a:t>Source: aqmen DCF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5105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8A8A"/>
                </a:solidFill>
                <a:latin typeface="Montserrat Medium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8585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03045E"/>
                </a:solidFill>
                <a:latin typeface="Montserrat"/>
              </a:rPr>
              <a:t>Enterprise value of ~$[XX]–[XX]m on the base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7269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3045E"/>
                </a:solidFill>
                <a:latin typeface="Montserrat"/>
              </a:rPr>
              <a:t>DCF enterprise value, $m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2103120"/>
          <a:ext cx="726948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9" name="Connector 8"/>
          <p:cNvCxnSpPr/>
          <p:nvPr/>
        </p:nvCxnSpPr>
        <p:spPr>
          <a:xfrm>
            <a:off x="8001000" y="1463040"/>
            <a:ext cx="0" cy="4892040"/>
          </a:xfrm>
          <a:prstGeom prst="bentConnector3">
            <a:avLst/>
          </a:prstGeom>
          <a:ln w="12700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5400000">
            <a:off x="8275320" y="1490472"/>
            <a:ext cx="201168" cy="201168"/>
          </a:xfrm>
          <a:prstGeom prst="triangle">
            <a:avLst/>
          </a:prstGeom>
          <a:solidFill>
            <a:srgbClr val="030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67928" y="147218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3045E"/>
                </a:solidFill>
                <a:latin typeface="Montserrat"/>
              </a:rPr>
              <a:t>Key Takeaways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920240"/>
            <a:ext cx="3429000" cy="4434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Range reflects WACC and terminal-growth spread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Terminal value ~[XX]% of EV (sanity check)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E6FD6"/>
                </a:solidFill>
                <a:latin typeface="Montserrat"/>
              </a:rPr>
              <a:t>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65215" y="10972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3045E"/>
                </a:solidFill>
                <a:latin typeface="Montserrat"/>
              </a:rPr>
              <a:t>Company Analysis:  </a:t>
            </a:r>
            <a:r>
              <a:rPr sz="1050" b="0" i="1">
                <a:solidFill>
                  <a:srgbClr val="03045E"/>
                </a:solidFill>
                <a:latin typeface="Montserrat"/>
              </a:rPr>
              <a:t>Valuation sensitivity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6528816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A8A"/>
                </a:solidFill>
                <a:latin typeface="Montserrat Medium"/>
              </a:rPr>
              <a:t>Source: aqmen DCF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5105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8A8A"/>
                </a:solidFill>
                <a:latin typeface="Montserrat Medium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8585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03045E"/>
                </a:solidFill>
                <a:latin typeface="Montserrat"/>
              </a:rPr>
              <a:t>Equity value across WACC × terminal growth; base case highlighted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1536192"/>
            <a:ext cx="1554480" cy="219456"/>
          </a:xfrm>
          <a:prstGeom prst="rect">
            <a:avLst/>
          </a:prstGeom>
          <a:noFill/>
          <a:ln w="6350">
            <a:solidFill>
              <a:srgbClr val="8A8A8A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302E2E"/>
                </a:solidFill>
                <a:latin typeface="Montserrat Medium"/>
              </a:rPr>
              <a:t>ILLUSTRATIVE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111858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3045E"/>
                </a:solidFill>
                <a:latin typeface="Montserrat"/>
              </a:rPr>
              <a:t>Equity value ($m) — WACC × terminal growth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90195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3045E"/>
                </a:solidFill>
                <a:latin typeface="Montserrat"/>
              </a:rPr>
              <a:t>Terminal growth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01952"/>
            <a:ext cx="12344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3045E"/>
                </a:solidFill>
                <a:latin typeface="Montserrat"/>
              </a:rPr>
              <a:t>WACC 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194560"/>
            <a:ext cx="120700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302E2E"/>
                </a:solidFill>
                <a:latin typeface="Montserrat Medium"/>
              </a:rPr>
              <a:t>1.5%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2194560"/>
            <a:ext cx="120700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302E2E"/>
                </a:solidFill>
                <a:latin typeface="Montserrat Medium"/>
              </a:rPr>
              <a:t>2.0%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51376" y="2194560"/>
            <a:ext cx="120700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302E2E"/>
                </a:solidFill>
                <a:latin typeface="Montserrat Medium"/>
              </a:rPr>
              <a:t>2.5%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58384" y="2194560"/>
            <a:ext cx="120700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302E2E"/>
                </a:solidFill>
                <a:latin typeface="Montserrat Medium"/>
              </a:rPr>
              <a:t>3.0%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194560"/>
            <a:ext cx="120700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302E2E"/>
                </a:solidFill>
                <a:latin typeface="Montserrat Medium"/>
              </a:rPr>
              <a:t>3.5%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468880"/>
            <a:ext cx="1234440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302E2E"/>
                </a:solidFill>
                <a:latin typeface="Montserrat Medium"/>
              </a:rPr>
              <a:t>8.0%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37360" y="2468880"/>
            <a:ext cx="1207008" cy="740664"/>
          </a:xfrm>
          <a:prstGeom prst="rect">
            <a:avLst/>
          </a:prstGeom>
          <a:solidFill>
            <a:srgbClr val="5B7AAB"/>
          </a:solidFill>
          <a:ln w="12700">
            <a:solidFill>
              <a:srgbClr val="FE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37360" y="2468880"/>
            <a:ext cx="1207008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02E2E"/>
                </a:solidFill>
                <a:latin typeface="Montserrat Medium"/>
              </a:rPr>
              <a:t>262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44368" y="2468880"/>
            <a:ext cx="1207008" cy="740664"/>
          </a:xfrm>
          <a:prstGeom prst="rect">
            <a:avLst/>
          </a:prstGeom>
          <a:solidFill>
            <a:srgbClr val="4A649C"/>
          </a:solidFill>
          <a:ln w="12700">
            <a:solidFill>
              <a:srgbClr val="FE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44368" y="2468880"/>
            <a:ext cx="1207008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FEFFFF"/>
                </a:solidFill>
                <a:latin typeface="Montserrat Medium"/>
              </a:rPr>
              <a:t>278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51376" y="2468880"/>
            <a:ext cx="1207008" cy="740664"/>
          </a:xfrm>
          <a:prstGeom prst="rect">
            <a:avLst/>
          </a:prstGeom>
          <a:solidFill>
            <a:srgbClr val="374A8B"/>
          </a:solidFill>
          <a:ln w="12700">
            <a:solidFill>
              <a:srgbClr val="FE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51376" y="2468880"/>
            <a:ext cx="1207008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FEFFFF"/>
                </a:solidFill>
                <a:latin typeface="Montserrat Medium"/>
              </a:rPr>
              <a:t>297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58384" y="2468880"/>
            <a:ext cx="1207008" cy="740664"/>
          </a:xfrm>
          <a:prstGeom prst="rect">
            <a:avLst/>
          </a:prstGeom>
          <a:solidFill>
            <a:srgbClr val="1F2A77"/>
          </a:solidFill>
          <a:ln w="12700">
            <a:solidFill>
              <a:srgbClr val="FE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58384" y="2468880"/>
            <a:ext cx="1207008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FEFFFF"/>
                </a:solidFill>
                <a:latin typeface="Montserrat Medium"/>
              </a:rPr>
              <a:t>320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65392" y="2468880"/>
            <a:ext cx="1207008" cy="740664"/>
          </a:xfrm>
          <a:prstGeom prst="rect">
            <a:avLst/>
          </a:prstGeom>
          <a:solidFill>
            <a:srgbClr val="03045E"/>
          </a:solidFill>
          <a:ln w="12700">
            <a:solidFill>
              <a:srgbClr val="FE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65392" y="2468880"/>
            <a:ext cx="1207008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FEFFFF"/>
                </a:solidFill>
                <a:latin typeface="Montserrat Medium"/>
              </a:rPr>
              <a:t>348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209544"/>
            <a:ext cx="1234440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302E2E"/>
                </a:solidFill>
                <a:latin typeface="Montserrat Medium"/>
              </a:rPr>
              <a:t>8.5%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37360" y="3209544"/>
            <a:ext cx="1207008" cy="740664"/>
          </a:xfrm>
          <a:prstGeom prst="rect">
            <a:avLst/>
          </a:prstGeom>
          <a:solidFill>
            <a:srgbClr val="739BC0"/>
          </a:solidFill>
          <a:ln w="12700">
            <a:solidFill>
              <a:srgbClr val="FE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0" y="3209544"/>
            <a:ext cx="1207008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02E2E"/>
                </a:solidFill>
                <a:latin typeface="Montserrat Medium"/>
              </a:rPr>
              <a:t>238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44368" y="3209544"/>
            <a:ext cx="1207008" cy="740664"/>
          </a:xfrm>
          <a:prstGeom prst="rect">
            <a:avLst/>
          </a:prstGeom>
          <a:solidFill>
            <a:srgbClr val="6689B5"/>
          </a:solidFill>
          <a:ln w="12700">
            <a:solidFill>
              <a:srgbClr val="FE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44368" y="3209544"/>
            <a:ext cx="1207008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02E2E"/>
                </a:solidFill>
                <a:latin typeface="Montserrat Medium"/>
              </a:rPr>
              <a:t>251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51376" y="3209544"/>
            <a:ext cx="1207008" cy="740664"/>
          </a:xfrm>
          <a:prstGeom prst="rect">
            <a:avLst/>
          </a:prstGeom>
          <a:solidFill>
            <a:srgbClr val="5674A7"/>
          </a:solidFill>
          <a:ln w="12700">
            <a:solidFill>
              <a:srgbClr val="FE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51376" y="3209544"/>
            <a:ext cx="1207008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02E2E"/>
                </a:solidFill>
                <a:latin typeface="Montserrat Medium"/>
              </a:rPr>
              <a:t>266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58384" y="3209544"/>
            <a:ext cx="1207008" cy="740664"/>
          </a:xfrm>
          <a:prstGeom prst="rect">
            <a:avLst/>
          </a:prstGeom>
          <a:solidFill>
            <a:srgbClr val="445B97"/>
          </a:solidFill>
          <a:ln w="12700">
            <a:solidFill>
              <a:srgbClr val="FE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58384" y="3209544"/>
            <a:ext cx="1207008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FEFFFF"/>
                </a:solidFill>
                <a:latin typeface="Montserrat Medium"/>
              </a:rPr>
              <a:t>284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65392" y="3209544"/>
            <a:ext cx="1207008" cy="740664"/>
          </a:xfrm>
          <a:prstGeom prst="rect">
            <a:avLst/>
          </a:prstGeom>
          <a:solidFill>
            <a:srgbClr val="2E3D83"/>
          </a:solidFill>
          <a:ln w="12700">
            <a:solidFill>
              <a:srgbClr val="FE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65392" y="3209544"/>
            <a:ext cx="1207008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FEFFFF"/>
                </a:solidFill>
                <a:latin typeface="Montserrat Medium"/>
              </a:rPr>
              <a:t>306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3950208"/>
            <a:ext cx="1234440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302E2E"/>
                </a:solidFill>
                <a:latin typeface="Montserrat Medium"/>
              </a:rPr>
              <a:t>9.0%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737360" y="3950208"/>
            <a:ext cx="1207008" cy="740664"/>
          </a:xfrm>
          <a:prstGeom prst="rect">
            <a:avLst/>
          </a:prstGeom>
          <a:solidFill>
            <a:srgbClr val="8AB9D4"/>
          </a:solidFill>
          <a:ln w="12700">
            <a:solidFill>
              <a:srgbClr val="FE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737360" y="3950208"/>
            <a:ext cx="1207008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02E2E"/>
                </a:solidFill>
                <a:latin typeface="Montserrat Medium"/>
              </a:rPr>
              <a:t>216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44368" y="3950208"/>
            <a:ext cx="1207008" cy="740664"/>
          </a:xfrm>
          <a:prstGeom prst="rect">
            <a:avLst/>
          </a:prstGeom>
          <a:solidFill>
            <a:srgbClr val="7EAACA"/>
          </a:solidFill>
          <a:ln w="12700">
            <a:solidFill>
              <a:srgbClr val="FE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44368" y="3950208"/>
            <a:ext cx="1207008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02E2E"/>
                </a:solidFill>
                <a:latin typeface="Montserrat Medium"/>
              </a:rPr>
              <a:t>227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51376" y="3950208"/>
            <a:ext cx="1207008" cy="740664"/>
          </a:xfrm>
          <a:prstGeom prst="rect">
            <a:avLst/>
          </a:prstGeom>
          <a:solidFill>
            <a:srgbClr val="7198BE"/>
          </a:solidFill>
          <a:ln w="31750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51376" y="3950208"/>
            <a:ext cx="1207008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302E2E"/>
                </a:solidFill>
                <a:latin typeface="Montserrat Medium"/>
              </a:rPr>
              <a:t>240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358384" y="3950208"/>
            <a:ext cx="1207008" cy="740664"/>
          </a:xfrm>
          <a:prstGeom prst="rect">
            <a:avLst/>
          </a:prstGeom>
          <a:solidFill>
            <a:srgbClr val="6385B2"/>
          </a:solidFill>
          <a:ln w="12700">
            <a:solidFill>
              <a:srgbClr val="FE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58384" y="3950208"/>
            <a:ext cx="1207008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02E2E"/>
                </a:solidFill>
                <a:latin typeface="Montserrat Medium"/>
              </a:rPr>
              <a:t>254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65392" y="3950208"/>
            <a:ext cx="1207008" cy="740664"/>
          </a:xfrm>
          <a:prstGeom prst="rect">
            <a:avLst/>
          </a:prstGeom>
          <a:solidFill>
            <a:srgbClr val="506CA2"/>
          </a:solidFill>
          <a:ln w="12700">
            <a:solidFill>
              <a:srgbClr val="FE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65392" y="3950208"/>
            <a:ext cx="1207008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02E2E"/>
                </a:solidFill>
                <a:latin typeface="Montserrat Medium"/>
              </a:rPr>
              <a:t>272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4690872"/>
            <a:ext cx="1234440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302E2E"/>
                </a:solidFill>
                <a:latin typeface="Montserrat Medium"/>
              </a:rPr>
              <a:t>9.5%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737360" y="4690872"/>
            <a:ext cx="1207008" cy="740664"/>
          </a:xfrm>
          <a:prstGeom prst="rect">
            <a:avLst/>
          </a:prstGeom>
          <a:solidFill>
            <a:srgbClr val="9CD2E4"/>
          </a:solidFill>
          <a:ln w="12700">
            <a:solidFill>
              <a:srgbClr val="FE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737360" y="4690872"/>
            <a:ext cx="1207008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02E2E"/>
                </a:solidFill>
                <a:latin typeface="Montserrat Medium"/>
              </a:rPr>
              <a:t>198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44368" y="4690872"/>
            <a:ext cx="1207008" cy="740664"/>
          </a:xfrm>
          <a:prstGeom prst="rect">
            <a:avLst/>
          </a:prstGeom>
          <a:solidFill>
            <a:srgbClr val="93C5DC"/>
          </a:solidFill>
          <a:ln w="12700">
            <a:solidFill>
              <a:srgbClr val="FE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944368" y="4690872"/>
            <a:ext cx="1207008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02E2E"/>
                </a:solidFill>
                <a:latin typeface="Montserrat Medium"/>
              </a:rPr>
              <a:t>207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51376" y="4690872"/>
            <a:ext cx="1207008" cy="740664"/>
          </a:xfrm>
          <a:prstGeom prst="rect">
            <a:avLst/>
          </a:prstGeom>
          <a:solidFill>
            <a:srgbClr val="89B7D3"/>
          </a:solidFill>
          <a:ln w="12700">
            <a:solidFill>
              <a:srgbClr val="FE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51376" y="4690872"/>
            <a:ext cx="1207008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02E2E"/>
                </a:solidFill>
                <a:latin typeface="Montserrat Medium"/>
              </a:rPr>
              <a:t>217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358384" y="4690872"/>
            <a:ext cx="1207008" cy="740664"/>
          </a:xfrm>
          <a:prstGeom prst="rect">
            <a:avLst/>
          </a:prstGeom>
          <a:solidFill>
            <a:srgbClr val="7CA7C8"/>
          </a:solidFill>
          <a:ln w="12700">
            <a:solidFill>
              <a:srgbClr val="FE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58384" y="4690872"/>
            <a:ext cx="1207008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02E2E"/>
                </a:solidFill>
                <a:latin typeface="Montserrat Medium"/>
              </a:rPr>
              <a:t>229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65392" y="4690872"/>
            <a:ext cx="1207008" cy="740664"/>
          </a:xfrm>
          <a:prstGeom prst="rect">
            <a:avLst/>
          </a:prstGeom>
          <a:solidFill>
            <a:srgbClr val="6E94BC"/>
          </a:solidFill>
          <a:ln w="12700">
            <a:solidFill>
              <a:srgbClr val="FE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65392" y="4690872"/>
            <a:ext cx="1207008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02E2E"/>
                </a:solidFill>
                <a:latin typeface="Montserrat Medium"/>
              </a:rPr>
              <a:t>243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20" y="5431536"/>
            <a:ext cx="1234440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302E2E"/>
                </a:solidFill>
                <a:latin typeface="Montserrat Medium"/>
              </a:rPr>
              <a:t>10.0%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737360" y="5431536"/>
            <a:ext cx="1207008" cy="740664"/>
          </a:xfrm>
          <a:prstGeom prst="rect">
            <a:avLst/>
          </a:prstGeom>
          <a:solidFill>
            <a:srgbClr val="ADE8F3"/>
          </a:solidFill>
          <a:ln w="12700">
            <a:solidFill>
              <a:srgbClr val="FE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737360" y="5431536"/>
            <a:ext cx="1207008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02E2E"/>
                </a:solidFill>
                <a:latin typeface="Montserrat Medium"/>
              </a:rPr>
              <a:t>182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944368" y="5431536"/>
            <a:ext cx="1207008" cy="740664"/>
          </a:xfrm>
          <a:prstGeom prst="rect">
            <a:avLst/>
          </a:prstGeom>
          <a:solidFill>
            <a:srgbClr val="A4DDEB"/>
          </a:solidFill>
          <a:ln w="12700">
            <a:solidFill>
              <a:srgbClr val="FE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944368" y="5431536"/>
            <a:ext cx="1207008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02E2E"/>
                </a:solidFill>
                <a:latin typeface="Montserrat Medium"/>
              </a:rPr>
              <a:t>190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151376" y="5431536"/>
            <a:ext cx="1207008" cy="740664"/>
          </a:xfrm>
          <a:prstGeom prst="rect">
            <a:avLst/>
          </a:prstGeom>
          <a:solidFill>
            <a:srgbClr val="9CD2E4"/>
          </a:solidFill>
          <a:ln w="12700">
            <a:solidFill>
              <a:srgbClr val="FE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51376" y="5431536"/>
            <a:ext cx="1207008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02E2E"/>
                </a:solidFill>
                <a:latin typeface="Montserrat Medium"/>
              </a:rPr>
              <a:t>198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358384" y="5431536"/>
            <a:ext cx="1207008" cy="740664"/>
          </a:xfrm>
          <a:prstGeom prst="rect">
            <a:avLst/>
          </a:prstGeom>
          <a:solidFill>
            <a:srgbClr val="92C4DB"/>
          </a:solidFill>
          <a:ln w="12700">
            <a:solidFill>
              <a:srgbClr val="FE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358384" y="5431536"/>
            <a:ext cx="1207008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02E2E"/>
                </a:solidFill>
                <a:latin typeface="Montserrat Medium"/>
              </a:rPr>
              <a:t>208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65392" y="5431536"/>
            <a:ext cx="1207008" cy="740664"/>
          </a:xfrm>
          <a:prstGeom prst="rect">
            <a:avLst/>
          </a:prstGeom>
          <a:solidFill>
            <a:srgbClr val="86B3D0"/>
          </a:solidFill>
          <a:ln w="12700">
            <a:solidFill>
              <a:srgbClr val="FE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565392" y="5431536"/>
            <a:ext cx="1207008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02E2E"/>
                </a:solidFill>
                <a:latin typeface="Montserrat Medium"/>
              </a:rPr>
              <a:t>220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8001000" y="1463040"/>
            <a:ext cx="0" cy="4892040"/>
          </a:xfrm>
          <a:prstGeom prst="bentConnector3">
            <a:avLst/>
          </a:prstGeom>
          <a:ln w="12700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Isosceles Triangle 71"/>
          <p:cNvSpPr/>
          <p:nvPr/>
        </p:nvSpPr>
        <p:spPr>
          <a:xfrm rot="5400000">
            <a:off x="8275320" y="1490472"/>
            <a:ext cx="201168" cy="201168"/>
          </a:xfrm>
          <a:prstGeom prst="triangle">
            <a:avLst/>
          </a:prstGeom>
          <a:solidFill>
            <a:srgbClr val="030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567928" y="147218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3045E"/>
                </a:solidFill>
                <a:latin typeface="Montserrat"/>
              </a:rPr>
              <a:t>Key Takeaways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75320" y="1920240"/>
            <a:ext cx="3429000" cy="4434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WACC dominates the range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Terminal assumptions warrant the most diligence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E6FD6"/>
                </a:solidFill>
                <a:latin typeface="Montserrat"/>
              </a:rPr>
              <a:t>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65215" y="10972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3045E"/>
                </a:solidFill>
                <a:latin typeface="Montserrat"/>
              </a:rPr>
              <a:t>Company Analysis:  </a:t>
            </a:r>
            <a:r>
              <a:rPr sz="1050" b="0" i="1">
                <a:solidFill>
                  <a:srgbClr val="03045E"/>
                </a:solidFill>
                <a:latin typeface="Montserrat"/>
              </a:rPr>
              <a:t>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6528816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A8A"/>
                </a:solidFill>
                <a:latin typeface="Montserrat Medium"/>
              </a:rPr>
              <a:t>Source: aqmen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5105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8A8A"/>
                </a:solidFill>
                <a:latin typeface="Montserrat Medium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8585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03045E"/>
                </a:solidFill>
                <a:latin typeface="Montserrat"/>
              </a:rPr>
              <a:t>[Initiative]: [one-line thesis] adds ~$[X]m of EV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7269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3045E"/>
                </a:solidFill>
                <a:latin typeface="Montserrat"/>
              </a:rPr>
              <a:t>Initiative (qualitative thesis)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94560"/>
            <a:ext cx="726948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200" b="1" i="0">
                <a:solidFill>
                  <a:srgbClr val="302E2E"/>
                </a:solidFill>
                <a:latin typeface="Montserrat Medium"/>
              </a:rPr>
              <a:t>[Directional thesis in plain words — the value-creation lever]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200" b="0" i="0">
                <a:solidFill>
                  <a:srgbClr val="302E2E"/>
                </a:solidFill>
                <a:latin typeface="Montserrat Medium"/>
              </a:rPr>
              <a:t>Overrides vs Base (quantitative):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    –  </a:t>
            </a:r>
            <a:r>
              <a:rPr sz="1200" b="0" i="0">
                <a:solidFill>
                  <a:srgbClr val="302E2E"/>
                </a:solidFill>
                <a:latin typeface="Montserrat Medium"/>
              </a:rPr>
              <a:t>[driver] [assumption] → [value] (was [base])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    –  </a:t>
            </a:r>
            <a:r>
              <a:rPr sz="1200" b="0" i="0">
                <a:solidFill>
                  <a:srgbClr val="302E2E"/>
                </a:solidFill>
                <a:latin typeface="Montserrat Medium"/>
              </a:rPr>
              <a:t>[driver] [assumption] → [value] (was [base])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001000" y="1463040"/>
            <a:ext cx="0" cy="4892040"/>
          </a:xfrm>
          <a:prstGeom prst="bentConnector3">
            <a:avLst/>
          </a:prstGeom>
          <a:ln w="12700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5400000">
            <a:off x="8275320" y="1490472"/>
            <a:ext cx="201168" cy="201168"/>
          </a:xfrm>
          <a:prstGeom prst="triangle">
            <a:avLst/>
          </a:prstGeom>
          <a:solidFill>
            <a:srgbClr val="030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67928" y="147218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3045E"/>
                </a:solidFill>
                <a:latin typeface="Montserrat"/>
              </a:rPr>
              <a:t>Key Takeaways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920240"/>
            <a:ext cx="3429000" cy="4434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Thesis in words, then the numbers that implement it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Base case shown before this scenario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E6FD6"/>
                </a:solidFill>
                <a:latin typeface="Montserrat"/>
              </a:rPr>
              <a:t>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65215" y="10972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3045E"/>
                </a:solidFill>
                <a:latin typeface="Montserrat"/>
              </a:rPr>
              <a:t>Appendix:  </a:t>
            </a:r>
            <a:r>
              <a:rPr sz="1050" b="0" i="1">
                <a:solidFill>
                  <a:srgbClr val="03045E"/>
                </a:solidFill>
                <a:latin typeface="Montserrat"/>
              </a:rPr>
              <a:t>Sources &amp; confidence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6528816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A8A"/>
                </a:solidFill>
                <a:latin typeface="Montserrat Medium"/>
              </a:rPr>
              <a:t>Source: Confidence: 5 primary · 4 credible secondary · 3 triangulated (news cap) · 2 weak · 1 estimate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5105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8A8A"/>
                </a:solidFill>
                <a:latin typeface="Montserrat Medium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8585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03045E"/>
                </a:solidFill>
                <a:latin typeface="Montserrat"/>
              </a:rPr>
              <a:t>Sources &amp; confidence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11185855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200" b="0" i="0">
                <a:solidFill>
                  <a:srgbClr val="302E2E"/>
                </a:solidFill>
                <a:latin typeface="Montserrat Medium"/>
              </a:rPr>
              <a:t>[Target] 10-K / annual report  —  confidence 5/5  —  historical financials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200" b="0" i="0">
                <a:solidFill>
                  <a:srgbClr val="302E2E"/>
                </a:solidFill>
                <a:latin typeface="Montserrat Medium"/>
              </a:rPr>
              <a:t>Management information  —  confidence 5/5  —  KPI build &amp; forecast assumptions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200" b="0" i="0">
                <a:solidFill>
                  <a:srgbClr val="302E2E"/>
                </a:solidFill>
                <a:latin typeface="Montserrat Medium"/>
              </a:rPr>
              <a:t>[Capital IQ / PitchBook]  —  confidence 4/5  —  comparables &amp; WACC inputs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200" b="0" i="0">
                <a:solidFill>
                  <a:srgbClr val="302E2E"/>
                </a:solidFill>
                <a:latin typeface="Montserrat Medium"/>
              </a:rPr>
              <a:t>[News / trade press]  —  confidence 3/5  —  directional colour only (news cap 3)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qmen">
      <a:dk1>
        <a:srgbClr val="020462"/>
      </a:dk1>
      <a:lt1>
        <a:srgbClr val="FEFFFF"/>
      </a:lt1>
      <a:dk2>
        <a:srgbClr val="302E2E"/>
      </a:dk2>
      <a:lt2>
        <a:srgbClr val="ADE8F3"/>
      </a:lt2>
      <a:accent1>
        <a:srgbClr val="03045E"/>
      </a:accent1>
      <a:accent2>
        <a:srgbClr val="ADE8F3"/>
      </a:accent2>
      <a:accent3>
        <a:srgbClr val="0728A3"/>
      </a:accent3>
      <a:accent4>
        <a:srgbClr val="00FF7F"/>
      </a:accent4>
      <a:accent5>
        <a:srgbClr val="2E6FD6"/>
      </a:accent5>
      <a:accent6>
        <a:srgbClr val="302E2E"/>
      </a:accent6>
      <a:hlink>
        <a:srgbClr val="00FF7F"/>
      </a:hlink>
      <a:folHlink>
        <a:srgbClr val="0728A3"/>
      </a:folHlink>
    </a:clrScheme>
    <a:fontScheme name="Aqmen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