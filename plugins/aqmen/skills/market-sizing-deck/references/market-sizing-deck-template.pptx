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03045E"/>
            </a:solidFill>
            <a:ln>
              <a:noFill/>
            </a:ln>
          </c:spPr>
          <c:dLbls>
            <c:numFmt formatCode="#,##0.0" sourceLinked="0"/>
            <c:txPr>
              <a:bodyPr/>
              <a:lstStyle/>
              <a:p>
                <a:pPr>
                  <a:defRPr sz="900">
                    <a:latin typeface="Montserrat Medium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'21</c:v>
                </c:pt>
                <c:pt idx="1">
                  <c:v>'22</c:v>
                </c:pt>
                <c:pt idx="2">
                  <c:v>'23</c:v>
                </c:pt>
                <c:pt idx="3">
                  <c:v>'24</c:v>
                </c:pt>
                <c:pt idx="4">
                  <c:v>'25E</c:v>
                </c:pt>
                <c:pt idx="5">
                  <c:v>'29E</c:v>
                </c:pt>
              </c:strCache>
            </c:strRef>
          </c:cat>
          <c:val>
            <c:numRef>
              <c:f>Sheet1!$B$2:$B$7</c:f>
              <c:numCache>
                <c:formatCode>#,##0.0</c:formatCode>
                <c:ptCount val="6"/>
                <c:pt idx="0">
                  <c:v>11.2</c:v>
                </c:pt>
                <c:pt idx="1">
                  <c:v>9.4</c:v>
                </c:pt>
                <c:pt idx="2">
                  <c:v>9.1</c:v>
                </c:pt>
                <c:pt idx="3">
                  <c:v>10.4</c:v>
                </c:pt>
                <c:pt idx="4">
                  <c:v>11.0</c:v>
                </c:pt>
                <c:pt idx="5">
                  <c:v>14.6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BD6"/>
            </a:solidFill>
          </a:ln>
        </c:spPr>
        <c:txPr>
          <a:bodyPr/>
          <a:lstStyle/>
          <a:p>
            <a:pPr>
              <a:defRPr sz="900">
                <a:latin typeface="Montserrat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2F3F7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CBD6"/>
            </a:solidFill>
          </a:ln>
        </c:spPr>
        <c:txPr>
          <a:bodyPr/>
          <a:lstStyle/>
          <a:p>
            <a:pPr>
              <a:defRPr sz="900">
                <a:latin typeface="Montserrat Medium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[Segment A]</c:v>
                </c:pt>
              </c:strCache>
            </c:strRef>
          </c:tx>
          <c:spPr>
            <a:solidFill>
              <a:srgbClr val="03045E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latin typeface="Montserrat Medium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[Region A]</c:v>
                </c:pt>
                <c:pt idx="1">
                  <c:v>[Region B]</c:v>
                </c:pt>
                <c:pt idx="2">
                  <c:v>[Region C]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30</c:v>
                </c:pt>
                <c:pt idx="1">
                  <c:v>12</c:v>
                </c:pt>
                <c:pt idx="2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[Segment B]</c:v>
                </c:pt>
              </c:strCache>
            </c:strRef>
          </c:tx>
          <c:spPr>
            <a:solidFill>
              <a:srgbClr val="0728A3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latin typeface="Montserrat Medium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[Region A]</c:v>
                </c:pt>
                <c:pt idx="1">
                  <c:v>[Region B]</c:v>
                </c:pt>
                <c:pt idx="2">
                  <c:v>[Region C]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15</c:v>
                </c:pt>
                <c:pt idx="1">
                  <c:v>6</c:v>
                </c:pt>
                <c:pt idx="2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[Segment C]</c:v>
                </c:pt>
              </c:strCache>
            </c:strRef>
          </c:tx>
          <c:spPr>
            <a:solidFill>
              <a:srgbClr val="2E6FD6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latin typeface="Montserrat Medium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[Region A]</c:v>
                </c:pt>
                <c:pt idx="1">
                  <c:v>[Region B]</c:v>
                </c:pt>
                <c:pt idx="2">
                  <c:v>[Region C]</c:v>
                </c:pt>
              </c:strCache>
            </c:strRef>
          </c:cat>
          <c:val>
            <c:numRef>
              <c:f>Sheet1!$D$2:$D$4</c:f>
              <c:numCache>
                <c:formatCode>#,##0</c:formatCode>
                <c:ptCount val="3"/>
                <c:pt idx="0">
                  <c:v>8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BD6"/>
            </a:solidFill>
          </a:ln>
        </c:spPr>
        <c:txPr>
          <a:bodyPr/>
          <a:lstStyle/>
          <a:p>
            <a:pPr>
              <a:defRPr sz="900">
                <a:latin typeface="Montserrat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2F3F7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CBD6"/>
            </a:solidFill>
          </a:ln>
        </c:spPr>
        <c:txPr>
          <a:bodyPr/>
          <a:lstStyle/>
          <a:p>
            <a:pPr>
              <a:defRPr sz="900">
                <a:latin typeface="Montserrat Medium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Estimate</c:v>
                </c:pt>
              </c:strCache>
            </c:strRef>
          </c:tx>
          <c:spPr>
            <a:solidFill>
              <a:srgbClr val="03045E"/>
            </a:solidFill>
            <a:ln>
              <a:noFill/>
            </a:ln>
          </c:spPr>
          <c:dLbls>
            <c:numFmt formatCode="#,##0.0" sourceLinked="0"/>
            <c:txPr>
              <a:bodyPr/>
              <a:lstStyle/>
              <a:p>
                <a:pPr>
                  <a:defRPr sz="900">
                    <a:latin typeface="Montserrat Medium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Bottom-up</c:v>
                </c:pt>
                <c:pt idx="1">
                  <c:v>Top-down</c:v>
                </c:pt>
              </c:strCache>
            </c:strRef>
          </c:cat>
          <c:val>
            <c:numRef>
              <c:f>Sheet1!$B$2:$B$3</c:f>
              <c:numCache>
                <c:formatCode>#,##0.0</c:formatCode>
                <c:ptCount val="2"/>
                <c:pt idx="0">
                  <c:v>10.1</c:v>
                </c:pt>
                <c:pt idx="1">
                  <c:v>10.8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BD6"/>
            </a:solidFill>
          </a:ln>
        </c:spPr>
        <c:txPr>
          <a:bodyPr/>
          <a:lstStyle/>
          <a:p>
            <a:pPr>
              <a:defRPr sz="900">
                <a:latin typeface="Montserrat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2F3F7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CBD6"/>
            </a:solidFill>
          </a:ln>
        </c:spPr>
        <c:txPr>
          <a:bodyPr/>
          <a:lstStyle/>
          <a:p>
            <a:pPr>
              <a:defRPr sz="900">
                <a:latin typeface="Montserrat Medium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03045E"/>
            </a:solidFill>
            <a:ln>
              <a:noFill/>
            </a:ln>
          </c:spPr>
          <c:dLbls>
            <c:numFmt formatCode="#,##0.0" sourceLinked="0"/>
            <c:txPr>
              <a:bodyPr/>
              <a:lstStyle/>
              <a:p>
                <a:pPr>
                  <a:defRPr sz="900">
                    <a:latin typeface="Montserrat Medium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[Driver 3]</c:v>
                </c:pt>
                <c:pt idx="1">
                  <c:v>[Driver 2]</c:v>
                </c:pt>
                <c:pt idx="2">
                  <c:v>[Driver 1]</c:v>
                </c:pt>
              </c:strCache>
            </c:strRef>
          </c:cat>
          <c:val>
            <c:numRef>
              <c:f>Sheet1!$B$2:$B$4</c:f>
              <c:numCache>
                <c:formatCode>#,##0.0</c:formatCode>
                <c:ptCount val="3"/>
                <c:pt idx="0">
                  <c:v>9.2</c:v>
                </c:pt>
                <c:pt idx="1">
                  <c:v>8.7</c:v>
                </c:pt>
                <c:pt idx="2">
                  <c:v>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0728A3"/>
            </a:solidFill>
            <a:ln>
              <a:noFill/>
            </a:ln>
          </c:spPr>
          <c:dLbls>
            <c:numFmt formatCode="#,##0.0" sourceLinked="0"/>
            <c:txPr>
              <a:bodyPr/>
              <a:lstStyle/>
              <a:p>
                <a:pPr>
                  <a:defRPr sz="900">
                    <a:latin typeface="Montserrat Medium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[Driver 3]</c:v>
                </c:pt>
                <c:pt idx="1">
                  <c:v>[Driver 2]</c:v>
                </c:pt>
                <c:pt idx="2">
                  <c:v>[Driver 1]</c:v>
                </c:pt>
              </c:strCache>
            </c:strRef>
          </c:cat>
          <c:val>
            <c:numRef>
              <c:f>Sheet1!$C$2:$C$4</c:f>
              <c:numCache>
                <c:formatCode>#,##0.0</c:formatCode>
                <c:ptCount val="3"/>
                <c:pt idx="0">
                  <c:v>11.4</c:v>
                </c:pt>
                <c:pt idx="1">
                  <c:v>12.1</c:v>
                </c:pt>
                <c:pt idx="2">
                  <c:v>13.2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BD6"/>
            </a:solidFill>
          </a:ln>
        </c:spPr>
        <c:txPr>
          <a:bodyPr/>
          <a:lstStyle/>
          <a:p>
            <a:pPr>
              <a:defRPr sz="900">
                <a:latin typeface="Montserrat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F2F3F7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CBD6"/>
            </a:solidFill>
          </a:ln>
        </c:spPr>
        <c:txPr>
          <a:bodyPr/>
          <a:lstStyle/>
          <a:p>
            <a:pPr>
              <a:defRPr sz="900">
                <a:latin typeface="Montserrat Medium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Wordmark"/>
          <p:cNvSpPr txBox="1"/>
          <p:nvPr/>
        </p:nvSpPr>
        <p:spPr>
          <a:xfrm>
            <a:off x="365760" y="6455664"/>
            <a:ext cx="1645920" cy="310896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b="1" sz="1500">
                <a:solidFill>
                  <a:srgbClr val="03045E"/>
                </a:solidFill>
                <a:latin typeface="Montserrat"/>
              </a:rPr>
              <a:t>Aqmen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03045E"/>
                </a:solidFill>
                <a:latin typeface="Montserrat"/>
              </a:rPr>
              <a:t>The [Market]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0728A3"/>
                </a:solidFill>
                <a:latin typeface="Montserrat"/>
              </a:rPr>
              <a:t>Market sizing &amp; growth outlook — Commercial Due Diligence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02E2E"/>
                </a:solidFill>
                <a:latin typeface="Montserrat Medium"/>
              </a:rPr>
              <a:t>Discussion Materials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598932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3045E"/>
                </a:solidFill>
                <a:latin typeface="Montserrat"/>
              </a:rPr>
              <a:t>Aqmen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3045E"/>
                </a:solidFill>
                <a:latin typeface="Montserrat"/>
              </a:rPr>
              <a:t>Agenda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23360" y="1901952"/>
            <a:ext cx="4206240" cy="0"/>
          </a:xfrm>
          <a:prstGeom prst="bentConnector3">
            <a:avLst/>
          </a:prstGeom>
          <a:ln w="12700">
            <a:solidFill>
              <a:srgbClr val="030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60520" y="2011680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3045E"/>
                </a:solidFill>
                <a:latin typeface="Montserrat"/>
              </a:rPr>
              <a:t>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2487168"/>
            <a:ext cx="4206240" cy="475488"/>
          </a:xfrm>
          <a:prstGeom prst="rect">
            <a:avLst/>
          </a:prstGeom>
          <a:solidFill>
            <a:srgbClr val="020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0520" y="2487168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EFFFF"/>
                </a:solidFill>
                <a:latin typeface="Montserrat"/>
              </a:rPr>
              <a:t>Market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2962656"/>
            <a:ext cx="4206240" cy="475488"/>
          </a:xfrm>
          <a:prstGeom prst="rect">
            <a:avLst/>
          </a:prstGeom>
          <a:solidFill>
            <a:srgbClr val="D6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962656"/>
            <a:ext cx="3657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- Definition &amp; Projections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438144"/>
            <a:ext cx="3657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03045E"/>
                </a:solidFill>
                <a:latin typeface="Montserrat"/>
              </a:rPr>
              <a:t>- Deep Dive on Assumptions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913632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3045E"/>
                </a:solidFill>
                <a:latin typeface="Montserrat"/>
              </a:rPr>
              <a:t>Competitive 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4389120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3045E"/>
                </a:solidFill>
                <a:latin typeface="Montserrat"/>
              </a:rPr>
              <a:t>Appendix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23360" y="4937760"/>
            <a:ext cx="4206240" cy="0"/>
          </a:xfrm>
          <a:prstGeom prst="bentConnector3">
            <a:avLst/>
          </a:prstGeom>
          <a:ln w="12700">
            <a:solidFill>
              <a:srgbClr val="030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3045E"/>
                </a:solidFill>
                <a:latin typeface="Montserrat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2103120" cy="158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673352"/>
            <a:ext cx="8899855" cy="158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Size the [market] and its trajectory to underwrite the investment thesis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Question answered: how large is the serviceable opportunity, and how fast is it growing?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3185160"/>
            <a:ext cx="11185855" cy="0"/>
          </a:xfrm>
          <a:prstGeom prst="bentConnector3">
            <a:avLst/>
          </a:prstGeom>
          <a:ln w="9525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3276600"/>
            <a:ext cx="2103120" cy="158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Market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3258312"/>
            <a:ext cx="8899855" cy="158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TAM of ~$[XX]B in [base year], with a serviceable market (SAM) of ~$[XX]B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Projected to grow ~[X]% annually through [year] as [key driver] plays out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[Region] leads with ~[XX]% of value on higher penetration and pricing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4770120"/>
            <a:ext cx="11185855" cy="0"/>
          </a:xfrm>
          <a:prstGeom prst="bentConnector3">
            <a:avLst/>
          </a:prstGeom>
          <a:ln w="9525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4861560"/>
            <a:ext cx="2103120" cy="158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4843272"/>
            <a:ext cx="8899855" cy="158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Base case triangulated top-down and bottom-up to within [X]%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Lowest-confidence, highest-leverage driver: [driver] — see sensitivity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Market Sizing: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Objective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[client scope], aqmen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We size the [market] on a clear, decision-relevant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7269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Definition &amp;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72694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1" i="0">
                <a:solidFill>
                  <a:srgbClr val="302E2E"/>
                </a:solidFill>
                <a:latin typeface="Montserrat Medium"/>
              </a:rPr>
              <a:t>In scope: [products / services], [geographies], [customer types]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Out of scope: [adjacencies excluded], and why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    –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Geography: [regions]; horizon: [base year] – [year], annual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    –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Currency: $; figures directional unless sourced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A tight boundary keeps the size decision-relevant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Adjacencies are flagged, not silently included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Market Sizing: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Data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Eurostat, Statista, company filings, aqmen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Public data covers [X]; the gaps that forced estimates are flagged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1536192"/>
            <a:ext cx="1554480" cy="219456"/>
          </a:xfrm>
          <a:prstGeom prst="rect">
            <a:avLst/>
          </a:prstGeom>
          <a:noFill/>
          <a:ln w="6350">
            <a:solidFill>
              <a:srgbClr val="8A8A8A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02E2E"/>
                </a:solidFill>
                <a:latin typeface="Montserrat Medium"/>
              </a:rPr>
              <a:t>ILLUSTRATIVE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72694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1" i="0">
                <a:solidFill>
                  <a:srgbClr val="302E2E"/>
                </a:solidFill>
                <a:latin typeface="Montserrat Medium"/>
              </a:rPr>
              <a:t>Strong coverage: [official statistics], [analyst databases]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Partial coverage: [breakdown] available only for [subset]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Gaps: [segment] estimated bottom-up — labelled and low-confidence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Where data is thin, we estimate transparently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No estimate is presented as observed data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Watch-out: [segment] is a bottom-up estimate (confidence 2) — the biggest data gap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Market Sizing: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Headline TAM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[sources], aqmen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The TAM is a ~$[XX]B opportunity, led by [Region]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[Market] TAM by region, [base year] $B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75688"/>
            <a:ext cx="146304" cy="146304"/>
          </a:xfrm>
          <a:prstGeom prst="rect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2048256"/>
            <a:ext cx="20116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02E2E"/>
                </a:solidFill>
                <a:latin typeface="Montserrat Medium"/>
              </a:rPr>
              <a:t>Whitespace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5376" y="2075688"/>
            <a:ext cx="146304" cy="146304"/>
          </a:xfrm>
          <a:prstGeom prst="rect">
            <a:avLst/>
          </a:prstGeom>
          <a:solidFill>
            <a:srgbClr val="072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4832" y="2048256"/>
            <a:ext cx="20116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02E2E"/>
                </a:solidFill>
                <a:latin typeface="Montserrat Medium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427007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53.3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8A8A8A"/>
                </a:solidFill>
                <a:latin typeface="Montserrat Medium"/>
              </a:rPr>
              <a:t>(61%)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43200"/>
            <a:ext cx="4270071" cy="2878043"/>
          </a:xfrm>
          <a:prstGeom prst="rect">
            <a:avLst/>
          </a:prstGeom>
          <a:solidFill>
            <a:srgbClr val="03045E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743200"/>
            <a:ext cx="4270071" cy="28780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EFFFF"/>
                </a:solidFill>
                <a:latin typeface="Montserrat Medium"/>
              </a:rPr>
              <a:t>46.6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621243"/>
            <a:ext cx="4270071" cy="413796"/>
          </a:xfrm>
          <a:prstGeom prst="rect">
            <a:avLst/>
          </a:prstGeom>
          <a:solidFill>
            <a:srgbClr val="0728A3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621243"/>
            <a:ext cx="4270071" cy="4137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EFFFF"/>
                </a:solidFill>
                <a:latin typeface="Montserrat Medium"/>
              </a:rPr>
              <a:t>6.7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080760"/>
            <a:ext cx="42700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[Region A]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2719" y="2286000"/>
            <a:ext cx="16743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20.8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8A8A8A"/>
                </a:solidFill>
                <a:latin typeface="Montserrat Medium"/>
              </a:rPr>
              <a:t>(24%)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82719" y="2743200"/>
            <a:ext cx="1674380" cy="1136395"/>
          </a:xfrm>
          <a:prstGeom prst="rect">
            <a:avLst/>
          </a:prstGeom>
          <a:solidFill>
            <a:srgbClr val="03045E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82719" y="2743200"/>
            <a:ext cx="1674380" cy="11363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EFFFF"/>
                </a:solidFill>
                <a:latin typeface="Montserrat Medium"/>
              </a:rPr>
              <a:t>18.4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82719" y="3879595"/>
            <a:ext cx="1674380" cy="148225"/>
          </a:xfrm>
          <a:prstGeom prst="rect">
            <a:avLst/>
          </a:prstGeom>
          <a:solidFill>
            <a:srgbClr val="0728A3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82719" y="3879595"/>
            <a:ext cx="1674380" cy="1482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EFFFF"/>
                </a:solidFill>
                <a:latin typeface="Montserrat Medium"/>
              </a:rPr>
              <a:t>2.4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2719" y="6080760"/>
            <a:ext cx="16743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[Region B]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6827" y="2286000"/>
            <a:ext cx="110557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13.8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8A8A8A"/>
                </a:solidFill>
                <a:latin typeface="Montserrat Medium"/>
              </a:rPr>
              <a:t>(16%)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66827" y="2743200"/>
            <a:ext cx="1105571" cy="772007"/>
          </a:xfrm>
          <a:prstGeom prst="rect">
            <a:avLst/>
          </a:prstGeom>
          <a:solidFill>
            <a:srgbClr val="03045E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66827" y="2743200"/>
            <a:ext cx="1105571" cy="7720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EFFFF"/>
                </a:solidFill>
                <a:latin typeface="Montserrat Medium"/>
              </a:rPr>
              <a:t>12.5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66827" y="3515207"/>
            <a:ext cx="1105571" cy="80288"/>
          </a:xfrm>
          <a:prstGeom prst="rect">
            <a:avLst/>
          </a:prstGeom>
          <a:solidFill>
            <a:srgbClr val="0728A3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66827" y="3515207"/>
            <a:ext cx="1105571" cy="802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EFFFF"/>
                </a:solidFill>
                <a:latin typeface="Montserrat Medium"/>
              </a:rPr>
              <a:t>1.3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6827" y="6080760"/>
            <a:ext cx="11055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[Region C]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[Region A] is ~two-thirds of total value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[Region B] is second despite fewer [deals/units]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[Region C] remains underpenetrated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Market Sizing: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aqmen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The market is [recovering / growing] at ~[X]% through [year]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7269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[Market] size, $B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2103120"/>
          <a:ext cx="726948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Trough in [year]; recovery underway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~[X]% CAGR projected through [year]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Market Sizing: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Segmentation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aqmen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[Segment A] drives over half of the market by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7269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[Market] by segment, $B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2103120"/>
          <a:ext cx="726948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Mix skews to [Segment A] in [Region A]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[Segment C] is nascent everywhere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Market Sizing: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Triangulation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aqmen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Bottom-up and top-down reconcile to within [X]%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7269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Triangulation, $B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2103120"/>
          <a:ext cx="726948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Two independent methods agree within [X]%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Divergence explained by [reason]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Market Sizing: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aqmen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[Driver] moves the answer most — the swing is ~$[X]B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1536192"/>
            <a:ext cx="1554480" cy="219456"/>
          </a:xfrm>
          <a:prstGeom prst="rect">
            <a:avLst/>
          </a:prstGeom>
          <a:noFill/>
          <a:ln w="6350">
            <a:solidFill>
              <a:srgbClr val="8A8A8A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02E2E"/>
                </a:solidFill>
                <a:latin typeface="Montserrat Medium"/>
              </a:rPr>
              <a:t>ILLUSTRATIVE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7269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Sensitivity of TAM to key drivers, $B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02920" y="2103120"/>
          <a:ext cx="726948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[Driver 1] dominates the range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Prioritise diligence on [Driver 1]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Market Sizing: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aqmen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[Scenario]: [one-line thesis] lifts the market to ~$[XX]B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7269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Trend (qualitative thesis)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72694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1" i="0">
                <a:solidFill>
                  <a:srgbClr val="302E2E"/>
                </a:solidFill>
                <a:latin typeface="Montserrat Medium"/>
              </a:rPr>
              <a:t>[Directional thesis in plain words — what changes and why]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Overrides vs Base (quantitative):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    –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[driver] [assumption] → [value] (was [base])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    –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[driver] [assumption] → [value] (was [base])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Thesis stated in words, then the numbers that implement it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Base case shown before this scenario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Appendix: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Sources &amp;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Confidence: 5 primary · 4 credible secondary · 3 triangulated (news cap) · 2 weak · 1 estimate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Sources &amp; confidence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8585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[Official statistics source]  —  confidence 5/5  —  base-year market value &amp; population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[Analyst database]  —  confidence 4/5  —  growth rates and segment mix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[Company filings]  —  confidence 5/5  —  bottom-up validation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[News / trade press]  —  confidence 3/5  —  directional colour only (news cap 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qmen">
      <a:dk1>
        <a:srgbClr val="020462"/>
      </a:dk1>
      <a:lt1>
        <a:srgbClr val="FEFFFF"/>
      </a:lt1>
      <a:dk2>
        <a:srgbClr val="302E2E"/>
      </a:dk2>
      <a:lt2>
        <a:srgbClr val="ADE8F3"/>
      </a:lt2>
      <a:accent1>
        <a:srgbClr val="03045E"/>
      </a:accent1>
      <a:accent2>
        <a:srgbClr val="ADE8F3"/>
      </a:accent2>
      <a:accent3>
        <a:srgbClr val="0728A3"/>
      </a:accent3>
      <a:accent4>
        <a:srgbClr val="00FF7F"/>
      </a:accent4>
      <a:accent5>
        <a:srgbClr val="2E6FD6"/>
      </a:accent5>
      <a:accent6>
        <a:srgbClr val="302E2E"/>
      </a:accent6>
      <a:hlink>
        <a:srgbClr val="00FF7F"/>
      </a:hlink>
      <a:folHlink>
        <a:srgbClr val="0728A3"/>
      </a:folHlink>
    </a:clrScheme>
    <a:fontScheme name="Aqmen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